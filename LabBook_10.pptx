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95" r:id="rId3"/>
    <p:sldId id="306" r:id="rId4"/>
    <p:sldId id="298" r:id="rId5"/>
    <p:sldId id="303" r:id="rId6"/>
    <p:sldId id="304" r:id="rId7"/>
    <p:sldId id="305" r:id="rId8"/>
    <p:sldId id="307" r:id="rId9"/>
    <p:sldId id="291" r:id="rId10"/>
    <p:sldId id="292" r:id="rId11"/>
    <p:sldId id="297" r:id="rId12"/>
    <p:sldId id="293" r:id="rId13"/>
    <p:sldId id="309" r:id="rId14"/>
    <p:sldId id="299" r:id="rId15"/>
    <p:sldId id="300" r:id="rId16"/>
    <p:sldId id="301" r:id="rId17"/>
    <p:sldId id="302" r:id="rId18"/>
    <p:sldId id="288" r:id="rId19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D4F43F-1257-97E9-F6B9-AAA381845A14}" v="3598" dt="2026-03-12T18:15:47.332"/>
    <p1510:client id="{9B9D37D3-5D6F-5858-4C8C-126081234AC6}" v="10" dt="2026-03-13T07:54:35.22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38" autoAdjust="0"/>
    <p:restoredTop sz="95033" autoAdjust="0"/>
  </p:normalViewPr>
  <p:slideViewPr>
    <p:cSldViewPr>
      <p:cViewPr varScale="1">
        <p:scale>
          <a:sx n="103" d="100"/>
          <a:sy n="103" d="100"/>
        </p:scale>
        <p:origin x="690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14/03/2026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14/03/2026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C9630-E39A-4EFA-C2F0-C72AAFF24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3CB4113-2B23-87DA-2EF7-F458BAEE9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F9A389F-EC9E-0A21-CE56-09BC1A848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3B8ABDB-E6CA-26EC-6B67-099E231F3E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57123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18790-06FC-19EB-AD62-3D93F5043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1A318BB-655E-06DD-AEA3-25EE49AA28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B6EF4B-A563-C3B3-AD2C-DE9F98FA3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95EF49-9227-40DB-B049-4EC0CC2368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8054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6CC38-544C-28B5-3E2E-F84CF8966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156B46B-107C-8E4B-553A-4C6D53BB5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9E80FA7-934D-7055-F797-670FA3D6D3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B735781-00B0-4F79-2217-EE68F658D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49336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F67DA-D022-CFCE-E690-8CEA58600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B4D4E58-2404-879B-482D-8AA09259A9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D5232FB-ACF5-E82A-26A2-EAE9E4F9FE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9F4DD3-406E-388B-7931-C51C86753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49726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74E8D-C088-2631-893B-F7F39A0B8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F814E20-1C09-FC07-B296-6F7CE97900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223D66F-A91A-96C9-6854-A767D62E4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176EB2-3279-CB77-A446-01693320B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4132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5711-C157-AA5E-1EA1-9F4C3F40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A117F6-F66D-FFD4-422F-EBD94B31F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B512FE-9F6C-4ABD-23FA-CA518B458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24E7A5-CBFC-658B-8E88-8AF8084D5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29614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93BBE-3704-D894-1C10-5488EE611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9BB04E2-F70F-42F7-9964-3D274C49F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664AEC-7D1D-9DDC-3B94-3AE8450C7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8F62EEB-2D30-2026-D252-4267AF6882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60790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9AA65-166B-474B-A6C9-9858D86A9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158223-A8BA-05F6-464C-EC03A9FB8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ECB4DF-C329-8F47-9ECE-661B5B2BF9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1B2276-A4E2-DFBF-0088-6997E86C9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23159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3B86-D15F-9CD8-C5EA-3EAAD8BAC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C73881A-26A5-ECF9-C6F2-3DEFA77AEF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B7AFC79-4973-3930-959B-AEF8810CF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345D0F3-6273-0338-FCDA-175B73D7C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73827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97049-7938-9625-0326-EA84E1920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55EC816-B16A-0FB2-FF60-78C3883C8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37EAE01-1861-B59D-FDDB-80A10AF9C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9832CBF-E279-77A5-CD31-DB8B41B31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354764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C1E49D-2E83-B51A-1DB9-7F57FEE69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D3B4B3C-F3D5-6714-7177-2935F76581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27B8410-7BAA-0FAD-DA20-4A805CD0E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885184-ADE7-800C-0632-6F4A5C6E54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40974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146C3-D725-7F2D-F26C-D9555DA60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5623A2D-BCB6-40C9-F0C4-7D33B0821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AFCE489-DC8A-5524-BDAD-86997496E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FD6F01-4686-C065-FB95-91D64F23D5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39977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71FE9-7033-7675-BE59-B47E696F3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C37C75F-9465-4462-C697-E2770DECD7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469D70F-D811-6990-BC43-82C330DB5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219A44-02E9-8596-EB2E-155686C0D8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2438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 WAVEGUIDES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1.0 WAVEGUIDES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1.0. </a:t>
            </a:r>
            <a:r>
              <a:rPr lang="es-ES" sz="3200" b="1" dirty="0" err="1">
                <a:latin typeface="Lucida Sans"/>
                <a:cs typeface="Lucida Sans"/>
              </a:rPr>
              <a:t>Waveguides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Students</a:t>
            </a:r>
            <a:r>
              <a:rPr lang="es-ES" spc="165" dirty="0">
                <a:latin typeface="Arial"/>
                <a:cs typeface="Arial"/>
              </a:rPr>
              <a:t>: Mauro </a:t>
            </a:r>
            <a:r>
              <a:rPr lang="es-ES" spc="165" dirty="0" err="1">
                <a:latin typeface="Arial"/>
                <a:cs typeface="Arial"/>
              </a:rPr>
              <a:t>Squitieri</a:t>
            </a:r>
            <a:r>
              <a:rPr lang="es-ES" spc="165" dirty="0">
                <a:latin typeface="Arial"/>
                <a:cs typeface="Arial"/>
              </a:rPr>
              <a:t> Pena y Jesús Botella Morales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https://github.com/cccanvas-upv/cifoin-lab1.git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 err="1">
                <a:solidFill>
                  <a:sysClr val="windowText" lastClr="000000"/>
                </a:solidFill>
              </a:rPr>
              <a:t>WAVEGUIDES_Student.ipynb</a:t>
            </a:r>
            <a:r>
              <a:rPr lang="en-US" kern="0" dirty="0">
                <a:solidFill>
                  <a:sysClr val="windowText" lastClr="000000"/>
                </a:solidFill>
              </a:rPr>
              <a:t> </a:t>
            </a:r>
          </a:p>
          <a:p>
            <a:pPr algn="just"/>
            <a:endParaRPr lang="en-US" sz="2000" b="1" i="1" u="sng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902765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1747061" y="3983757"/>
            <a:ext cx="76200" cy="986155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1091131" y="4210910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  <a:endParaRPr sz="140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1984805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2504743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1984805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3983988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391400" y="3422925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8473440" y="3773445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8993378" y="3532730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8473440" y="3983757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10472623" y="4338253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0" name="object 73">
            <a:extLst>
              <a:ext uri="{FF2B5EF4-FFF2-40B4-BE49-F238E27FC236}">
                <a16:creationId xmlns:a16="http://schemas.microsoft.com/office/drawing/2014/main" id="{C699977C-9138-F9B9-E43D-0CCB01AEB75F}"/>
              </a:ext>
            </a:extLst>
          </p:cNvPr>
          <p:cNvSpPr txBox="1"/>
          <p:nvPr/>
        </p:nvSpPr>
        <p:spPr>
          <a:xfrm>
            <a:off x="7391400" y="4690819"/>
            <a:ext cx="39061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lang="es-ES" sz="2350" dirty="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</a:pPr>
            <a:r>
              <a:rPr lang="es-ES" sz="1600" b="1" spc="-10" dirty="0" err="1">
                <a:latin typeface="Calibri"/>
                <a:cs typeface="Calibri"/>
              </a:rPr>
              <a:t>Slab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2" name="object 62">
            <a:extLst>
              <a:ext uri="{FF2B5EF4-FFF2-40B4-BE49-F238E27FC236}">
                <a16:creationId xmlns:a16="http://schemas.microsoft.com/office/drawing/2014/main" id="{04561701-4B4F-F208-98F6-2DAB5C1138D3}"/>
              </a:ext>
            </a:extLst>
          </p:cNvPr>
          <p:cNvSpPr/>
          <p:nvPr/>
        </p:nvSpPr>
        <p:spPr>
          <a:xfrm>
            <a:off x="8575910" y="3994221"/>
            <a:ext cx="56259" cy="694989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62">
            <a:extLst>
              <a:ext uri="{FF2B5EF4-FFF2-40B4-BE49-F238E27FC236}">
                <a16:creationId xmlns:a16="http://schemas.microsoft.com/office/drawing/2014/main" id="{CCA3B0D6-0C9E-B4A6-FA43-1AB5F1821674}"/>
              </a:ext>
            </a:extLst>
          </p:cNvPr>
          <p:cNvSpPr/>
          <p:nvPr/>
        </p:nvSpPr>
        <p:spPr>
          <a:xfrm>
            <a:off x="8233207" y="4689210"/>
            <a:ext cx="55008" cy="613272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63">
            <a:extLst>
              <a:ext uri="{FF2B5EF4-FFF2-40B4-BE49-F238E27FC236}">
                <a16:creationId xmlns:a16="http://schemas.microsoft.com/office/drawing/2014/main" id="{6394166D-0522-24AD-E666-39FE8A3FDC24}"/>
              </a:ext>
            </a:extLst>
          </p:cNvPr>
          <p:cNvSpPr txBox="1"/>
          <p:nvPr/>
        </p:nvSpPr>
        <p:spPr>
          <a:xfrm>
            <a:off x="8351994" y="4887127"/>
            <a:ext cx="674053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dirty="0" err="1">
                <a:latin typeface="Calibri"/>
                <a:cs typeface="Calibri"/>
              </a:rPr>
              <a:t>h_slab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2" name="object 63">
            <a:extLst>
              <a:ext uri="{FF2B5EF4-FFF2-40B4-BE49-F238E27FC236}">
                <a16:creationId xmlns:a16="http://schemas.microsoft.com/office/drawing/2014/main" id="{B589EB7D-B26E-4239-A5C2-F96DBBE82162}"/>
              </a:ext>
            </a:extLst>
          </p:cNvPr>
          <p:cNvSpPr txBox="1"/>
          <p:nvPr/>
        </p:nvSpPr>
        <p:spPr>
          <a:xfrm>
            <a:off x="8706378" y="3990085"/>
            <a:ext cx="138017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spc="-10" dirty="0" err="1">
                <a:latin typeface="Calibri"/>
                <a:cs typeface="Calibri"/>
              </a:rPr>
              <a:t>h_core</a:t>
            </a:r>
            <a:r>
              <a:rPr lang="es-ES" sz="1400" spc="-10" dirty="0">
                <a:latin typeface="Calibri"/>
                <a:cs typeface="Calibri"/>
              </a:rPr>
              <a:t> 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9306491" y="5257071"/>
            <a:ext cx="198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2969899" y="5257071"/>
            <a:ext cx="215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</p:txBody>
      </p:sp>
    </p:spTree>
    <p:extLst>
      <p:ext uri="{BB962C8B-B14F-4D97-AF65-F5344CB8AC3E}">
        <p14:creationId xmlns:p14="http://schemas.microsoft.com/office/powerpoint/2010/main" val="473922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Effective index of a waveguide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AA9E72FF-B948-6B7A-8909-97C6BE95D6FB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INSTRUCTOR: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Present Python and </a:t>
            </a:r>
            <a:r>
              <a:rPr lang="en-US" sz="2000" dirty="0" err="1"/>
              <a:t>GDSFactory</a:t>
            </a:r>
            <a:r>
              <a:rPr lang="en-US" sz="2000" dirty="0"/>
              <a:t>: materials, output, results.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Explain how to run a simulation for a particular cross-section.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Showcase how to change between shallow and deep waveguide.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how to change the wavelength and width for the waveguide analysis.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the outputs.</a:t>
            </a:r>
          </a:p>
          <a:p>
            <a:pPr marL="0" indent="0" algn="just">
              <a:buNone/>
            </a:pPr>
            <a:r>
              <a:rPr lang="en-US" sz="2000" b="1" dirty="0"/>
              <a:t>ALL EXAMPLE #1: </a:t>
            </a:r>
            <a:r>
              <a:rPr lang="en-US" sz="2000" dirty="0"/>
              <a:t>waveguide width 1.2 µm, deep </a:t>
            </a:r>
            <a:r>
              <a:rPr lang="en-US" sz="2000" dirty="0" err="1"/>
              <a:t>wvg</a:t>
            </a:r>
            <a:r>
              <a:rPr lang="en-US" sz="2000" dirty="0"/>
              <a:t>, wavelength start and end same 1.55 µm </a:t>
            </a:r>
            <a:r>
              <a:rPr lang="en-US" sz="2000" dirty="0">
                <a:sym typeface="Wingdings" pitchFamily="2" charset="2"/>
              </a:rPr>
              <a:t> all ”Run”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b="1" dirty="0"/>
              <a:t>ALL: </a:t>
            </a:r>
            <a:r>
              <a:rPr lang="en-US" sz="2000" dirty="0"/>
              <a:t>Follow</a:t>
            </a:r>
            <a:r>
              <a:rPr lang="en-US" sz="2000" b="1" dirty="0"/>
              <a:t> </a:t>
            </a:r>
            <a:r>
              <a:rPr lang="en-US" sz="2000" dirty="0"/>
              <a:t>instructor, that will show how to 1) plot mode, 2) explore the results (neff …)</a:t>
            </a:r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9DEF9-DEC7-8636-25E7-AB5FCEE84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AF59F73F-4A90-A1C1-90AA-B07A12836F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17981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l"/>
            <a:r>
              <a:rPr lang="es-ES" sz="2500" spc="-5" dirty="0">
                <a:ea typeface="Calibri"/>
              </a:rPr>
              <a:t>1.1. </a:t>
            </a:r>
            <a:r>
              <a:rPr lang="es-ES" sz="2500" spc="-5" dirty="0" err="1">
                <a:ea typeface="Calibri"/>
              </a:rPr>
              <a:t>Materials</a:t>
            </a:r>
            <a:endParaRPr lang="es-ES" sz="2500" spc="-5" dirty="0">
              <a:ea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br>
              <a:rPr lang="es-ES" sz="2500" spc="-5" dirty="0">
                <a:latin typeface="+mj-lt"/>
                <a:cs typeface="Lucida Sans"/>
              </a:rPr>
            </a:br>
            <a:endParaRPr sz="2500" b="0">
              <a:latin typeface="+mj-lt"/>
              <a:ea typeface="Calibri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6E2952A6-600C-823D-C1FD-016BB9D18B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7CBB5223-8975-009D-0812-B97129CD3D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9895BB5-849E-1996-882C-AFC0C4C8DB4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A23D315-B779-D8DB-7975-1B1C659E4749}"/>
              </a:ext>
            </a:extLst>
          </p:cNvPr>
          <p:cNvSpPr txBox="1"/>
          <p:nvPr/>
        </p:nvSpPr>
        <p:spPr>
          <a:xfrm>
            <a:off x="686744" y="4363377"/>
            <a:ext cx="11122668" cy="160043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400" dirty="0">
                <a:ea typeface="+mn-lt"/>
                <a:cs typeface="+mn-lt"/>
              </a:rPr>
              <a:t>En </a:t>
            </a:r>
            <a:r>
              <a:rPr lang="en-US" sz="1400" dirty="0" err="1">
                <a:ea typeface="+mn-lt"/>
                <a:cs typeface="+mn-lt"/>
              </a:rPr>
              <a:t>este</a:t>
            </a:r>
            <a:r>
              <a:rPr lang="en-US" sz="1400" dirty="0">
                <a:ea typeface="+mn-lt"/>
                <a:cs typeface="+mn-lt"/>
              </a:rPr>
              <a:t> primer </a:t>
            </a:r>
            <a:r>
              <a:rPr lang="en-US" sz="1400" dirty="0" err="1">
                <a:ea typeface="+mn-lt"/>
                <a:cs typeface="+mn-lt"/>
              </a:rPr>
              <a:t>apartado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hemos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representado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los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índices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refracción</a:t>
            </a:r>
            <a:r>
              <a:rPr lang="en-US" sz="1400" dirty="0">
                <a:ea typeface="+mn-lt"/>
                <a:cs typeface="+mn-lt"/>
              </a:rPr>
              <a:t> del </a:t>
            </a:r>
            <a:r>
              <a:rPr lang="en-US" sz="1400" dirty="0" err="1">
                <a:ea typeface="+mn-lt"/>
                <a:cs typeface="+mn-lt"/>
              </a:rPr>
              <a:t>Silicio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Nitruro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Silicio</a:t>
            </a:r>
            <a:r>
              <a:rPr lang="en-US" sz="1400" dirty="0">
                <a:ea typeface="+mn-lt"/>
                <a:cs typeface="+mn-lt"/>
              </a:rPr>
              <a:t> y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Dióxido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Silicio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comparándolos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según</a:t>
            </a:r>
            <a:r>
              <a:rPr lang="en-US" sz="1400" dirty="0">
                <a:ea typeface="+mn-lt"/>
                <a:cs typeface="+mn-lt"/>
              </a:rPr>
              <a:t> la </a:t>
            </a:r>
            <a:r>
              <a:rPr lang="en-US" sz="1400" dirty="0" err="1">
                <a:ea typeface="+mn-lt"/>
                <a:cs typeface="+mn-lt"/>
              </a:rPr>
              <a:t>longitud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onda</a:t>
            </a:r>
            <a:r>
              <a:rPr lang="en-US" sz="1400" dirty="0">
                <a:ea typeface="+mn-lt"/>
                <a:cs typeface="+mn-lt"/>
              </a:rPr>
              <a:t>. Como se </a:t>
            </a:r>
            <a:r>
              <a:rPr lang="en-US" sz="1400" dirty="0" err="1">
                <a:ea typeface="+mn-lt"/>
                <a:cs typeface="+mn-lt"/>
              </a:rPr>
              <a:t>ve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la </a:t>
            </a:r>
            <a:r>
              <a:rPr lang="en-US" sz="1400" dirty="0" err="1">
                <a:ea typeface="+mn-lt"/>
                <a:cs typeface="+mn-lt"/>
              </a:rPr>
              <a:t>gráfica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Silicio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tiene</a:t>
            </a:r>
            <a:r>
              <a:rPr lang="en-US" sz="1400" dirty="0">
                <a:ea typeface="+mn-lt"/>
                <a:cs typeface="+mn-lt"/>
              </a:rPr>
              <a:t> un </a:t>
            </a:r>
            <a:r>
              <a:rPr lang="en-US" sz="1400" dirty="0" err="1">
                <a:ea typeface="+mn-lt"/>
                <a:cs typeface="+mn-lt"/>
              </a:rPr>
              <a:t>índice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muy</a:t>
            </a:r>
            <a:r>
              <a:rPr lang="en-US" sz="1400" dirty="0">
                <a:ea typeface="+mn-lt"/>
                <a:cs typeface="+mn-lt"/>
              </a:rPr>
              <a:t> alto, </a:t>
            </a:r>
            <a:r>
              <a:rPr lang="en-US" sz="1400" dirty="0" err="1">
                <a:ea typeface="+mn-lt"/>
                <a:cs typeface="+mn-lt"/>
              </a:rPr>
              <a:t>sobre</a:t>
            </a:r>
            <a:r>
              <a:rPr lang="en-US" sz="1400" dirty="0">
                <a:ea typeface="+mn-lt"/>
                <a:cs typeface="+mn-lt"/>
              </a:rPr>
              <a:t> 3.47, </a:t>
            </a:r>
            <a:r>
              <a:rPr lang="en-US" sz="1400" dirty="0" err="1">
                <a:ea typeface="+mn-lt"/>
                <a:cs typeface="+mn-lt"/>
              </a:rPr>
              <a:t>mientras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Nitruro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está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2.0 y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Óxido</a:t>
            </a:r>
            <a:r>
              <a:rPr lang="en-US" sz="1400" dirty="0">
                <a:ea typeface="+mn-lt"/>
                <a:cs typeface="+mn-lt"/>
              </a:rPr>
              <a:t> baja hasta 1.45. Esto es clave </a:t>
            </a:r>
            <a:r>
              <a:rPr lang="en-US" sz="1400" dirty="0" err="1">
                <a:ea typeface="+mn-lt"/>
                <a:cs typeface="+mn-lt"/>
              </a:rPr>
              <a:t>porque</a:t>
            </a:r>
            <a:r>
              <a:rPr lang="en-US" sz="1400" dirty="0">
                <a:ea typeface="+mn-lt"/>
                <a:cs typeface="+mn-lt"/>
              </a:rPr>
              <a:t>, para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la luz se </a:t>
            </a:r>
            <a:r>
              <a:rPr lang="en-US" sz="1400" dirty="0" err="1">
                <a:ea typeface="+mn-lt"/>
                <a:cs typeface="+mn-lt"/>
              </a:rPr>
              <a:t>quede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atrapada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la </a:t>
            </a:r>
            <a:r>
              <a:rPr lang="en-US" sz="1400" dirty="0" err="1">
                <a:ea typeface="+mn-lt"/>
                <a:cs typeface="+mn-lt"/>
              </a:rPr>
              <a:t>guía</a:t>
            </a:r>
            <a:r>
              <a:rPr lang="en-US" sz="1400" dirty="0">
                <a:ea typeface="+mn-lt"/>
                <a:cs typeface="+mn-lt"/>
              </a:rPr>
              <a:t> y no se escape, </a:t>
            </a:r>
            <a:r>
              <a:rPr lang="en-US" sz="1400" dirty="0" err="1">
                <a:ea typeface="+mn-lt"/>
                <a:cs typeface="+mn-lt"/>
              </a:rPr>
              <a:t>necesitamos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núcleo</a:t>
            </a:r>
            <a:r>
              <a:rPr lang="en-US" sz="1400" dirty="0">
                <a:ea typeface="+mn-lt"/>
                <a:cs typeface="+mn-lt"/>
              </a:rPr>
              <a:t> (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centro</a:t>
            </a:r>
            <a:r>
              <a:rPr lang="en-US" sz="1400" dirty="0">
                <a:ea typeface="+mn-lt"/>
                <a:cs typeface="+mn-lt"/>
              </a:rPr>
              <a:t> de la </a:t>
            </a:r>
            <a:r>
              <a:rPr lang="en-US" sz="1400" dirty="0" err="1">
                <a:ea typeface="+mn-lt"/>
                <a:cs typeface="+mn-lt"/>
              </a:rPr>
              <a:t>guía</a:t>
            </a:r>
            <a:r>
              <a:rPr lang="en-US" sz="1400" dirty="0">
                <a:ea typeface="+mn-lt"/>
                <a:cs typeface="+mn-lt"/>
              </a:rPr>
              <a:t>) </a:t>
            </a:r>
            <a:r>
              <a:rPr lang="en-US" sz="1400" dirty="0" err="1">
                <a:ea typeface="+mn-lt"/>
                <a:cs typeface="+mn-lt"/>
              </a:rPr>
              <a:t>tenga</a:t>
            </a:r>
            <a:r>
              <a:rPr lang="en-US" sz="1400" dirty="0">
                <a:ea typeface="+mn-lt"/>
                <a:cs typeface="+mn-lt"/>
              </a:rPr>
              <a:t> un </a:t>
            </a:r>
            <a:r>
              <a:rPr lang="en-US" sz="1400" dirty="0" err="1">
                <a:ea typeface="+mn-lt"/>
                <a:cs typeface="+mn-lt"/>
              </a:rPr>
              <a:t>índice</a:t>
            </a:r>
            <a:r>
              <a:rPr lang="en-US" sz="1400" dirty="0">
                <a:ea typeface="+mn-lt"/>
                <a:cs typeface="+mn-lt"/>
              </a:rPr>
              <a:t> mayor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recubrimiento</a:t>
            </a:r>
            <a:r>
              <a:rPr lang="en-US" sz="1400" dirty="0">
                <a:ea typeface="+mn-lt"/>
                <a:cs typeface="+mn-lt"/>
              </a:rPr>
              <a:t>. </a:t>
            </a:r>
            <a:r>
              <a:rPr lang="en-US" sz="1400" dirty="0" err="1">
                <a:ea typeface="+mn-lt"/>
                <a:cs typeface="+mn-lt"/>
              </a:rPr>
              <a:t>Además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vemos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los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índices</a:t>
            </a:r>
            <a:r>
              <a:rPr lang="en-US" sz="1400" dirty="0">
                <a:ea typeface="+mn-lt"/>
                <a:cs typeface="+mn-lt"/>
              </a:rPr>
              <a:t> no son </a:t>
            </a:r>
            <a:r>
              <a:rPr lang="en-US" sz="1400" dirty="0" err="1">
                <a:ea typeface="+mn-lt"/>
                <a:cs typeface="+mn-lt"/>
              </a:rPr>
              <a:t>constantes</a:t>
            </a:r>
            <a:r>
              <a:rPr lang="en-US" sz="1400" dirty="0">
                <a:ea typeface="+mn-lt"/>
                <a:cs typeface="+mn-lt"/>
              </a:rPr>
              <a:t> y </a:t>
            </a:r>
            <a:r>
              <a:rPr lang="en-US" sz="1400" dirty="0" err="1">
                <a:ea typeface="+mn-lt"/>
                <a:cs typeface="+mn-lt"/>
              </a:rPr>
              <a:t>varían</a:t>
            </a:r>
            <a:r>
              <a:rPr lang="en-US" sz="1400" dirty="0">
                <a:ea typeface="+mn-lt"/>
                <a:cs typeface="+mn-lt"/>
              </a:rPr>
              <a:t> al </a:t>
            </a:r>
            <a:r>
              <a:rPr lang="en-US" sz="1400" dirty="0" err="1">
                <a:ea typeface="+mn-lt"/>
                <a:cs typeface="+mn-lt"/>
              </a:rPr>
              <a:t>aumentar</a:t>
            </a:r>
            <a:r>
              <a:rPr lang="en-US" sz="1400" dirty="0">
                <a:ea typeface="+mn-lt"/>
                <a:cs typeface="+mn-lt"/>
              </a:rPr>
              <a:t> la </a:t>
            </a:r>
            <a:r>
              <a:rPr lang="en-US" sz="1400" dirty="0" err="1">
                <a:ea typeface="+mn-lt"/>
                <a:cs typeface="+mn-lt"/>
              </a:rPr>
              <a:t>longitud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onda</a:t>
            </a:r>
            <a:r>
              <a:rPr lang="en-US" sz="1400" dirty="0">
                <a:ea typeface="+mn-lt"/>
                <a:cs typeface="+mn-lt"/>
              </a:rPr>
              <a:t>, lo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nos</a:t>
            </a:r>
            <a:r>
              <a:rPr lang="en-US" sz="1400" dirty="0">
                <a:ea typeface="+mn-lt"/>
                <a:cs typeface="+mn-lt"/>
              </a:rPr>
              <a:t> indica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hay </a:t>
            </a:r>
            <a:r>
              <a:rPr lang="en-US" sz="1400" dirty="0" err="1">
                <a:ea typeface="+mn-lt"/>
                <a:cs typeface="+mn-lt"/>
              </a:rPr>
              <a:t>dispersión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los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materiales</a:t>
            </a:r>
            <a:r>
              <a:rPr lang="en-US" sz="1400" dirty="0">
                <a:ea typeface="+mn-lt"/>
                <a:cs typeface="+mn-lt"/>
              </a:rPr>
              <a:t> y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habrá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tenerlo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cuenta</a:t>
            </a:r>
            <a:r>
              <a:rPr lang="en-US" sz="1400" dirty="0">
                <a:ea typeface="+mn-lt"/>
                <a:cs typeface="+mn-lt"/>
              </a:rPr>
              <a:t> para </a:t>
            </a:r>
            <a:r>
              <a:rPr lang="en-US" sz="1400" dirty="0" err="1">
                <a:ea typeface="+mn-lt"/>
                <a:cs typeface="+mn-lt"/>
              </a:rPr>
              <a:t>los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cálculos</a:t>
            </a:r>
            <a:r>
              <a:rPr lang="en-US" sz="1400" dirty="0">
                <a:ea typeface="+mn-lt"/>
                <a:cs typeface="+mn-lt"/>
              </a:rPr>
              <a:t> de la </a:t>
            </a:r>
            <a:r>
              <a:rPr lang="en-US" sz="1400" dirty="0" err="1">
                <a:ea typeface="+mn-lt"/>
                <a:cs typeface="+mn-lt"/>
              </a:rPr>
              <a:t>guía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más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adelante</a:t>
            </a:r>
            <a:r>
              <a:rPr lang="en-US" sz="1400" dirty="0">
                <a:ea typeface="+mn-lt"/>
                <a:cs typeface="+mn-lt"/>
              </a:rPr>
              <a:t>.</a:t>
            </a:r>
          </a:p>
          <a:p>
            <a:pPr algn="just"/>
            <a:endParaRPr lang="en-US" sz="1400" dirty="0">
              <a:ea typeface="Calibri"/>
              <a:cs typeface="Calibri"/>
            </a:endParaRPr>
          </a:p>
          <a:p>
            <a:pPr algn="just"/>
            <a:r>
              <a:rPr lang="en-US" sz="1400" dirty="0" err="1">
                <a:ea typeface="Calibri"/>
                <a:cs typeface="Calibri"/>
              </a:rPr>
              <a:t>Vemos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además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que</a:t>
            </a:r>
            <a:r>
              <a:rPr lang="en-US" sz="1400" dirty="0">
                <a:ea typeface="Calibri"/>
                <a:cs typeface="Calibri"/>
              </a:rPr>
              <a:t> la </a:t>
            </a:r>
            <a:r>
              <a:rPr lang="en-US" sz="1400" dirty="0" err="1">
                <a:ea typeface="Calibri"/>
                <a:cs typeface="Calibri"/>
              </a:rPr>
              <a:t>variación</a:t>
            </a:r>
            <a:r>
              <a:rPr lang="en-US" sz="1400" dirty="0">
                <a:ea typeface="Calibri"/>
                <a:cs typeface="Calibri"/>
              </a:rPr>
              <a:t> del </a:t>
            </a:r>
            <a:r>
              <a:rPr lang="en-US" sz="1400" dirty="0" err="1">
                <a:ea typeface="Calibri"/>
                <a:cs typeface="Calibri"/>
              </a:rPr>
              <a:t>índice</a:t>
            </a:r>
            <a:r>
              <a:rPr lang="en-US" sz="1400" dirty="0">
                <a:ea typeface="Calibri"/>
                <a:cs typeface="Calibri"/>
              </a:rPr>
              <a:t> </a:t>
            </a:r>
            <a:r>
              <a:rPr lang="en-US" sz="1400" dirty="0" err="1">
                <a:ea typeface="Calibri"/>
                <a:cs typeface="Calibri"/>
              </a:rPr>
              <a:t>tiene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más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pendiente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en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los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materiales</a:t>
            </a:r>
            <a:r>
              <a:rPr lang="en-US" sz="1400" dirty="0">
                <a:ea typeface="Calibri"/>
                <a:cs typeface="Calibri"/>
              </a:rPr>
              <a:t> de </a:t>
            </a:r>
            <a:r>
              <a:rPr lang="en-US" sz="1400" dirty="0" err="1">
                <a:ea typeface="Calibri"/>
                <a:cs typeface="Calibri"/>
              </a:rPr>
              <a:t>izquierda</a:t>
            </a:r>
            <a:r>
              <a:rPr lang="en-US" sz="1400" dirty="0">
                <a:ea typeface="Calibri"/>
                <a:cs typeface="Calibri"/>
              </a:rPr>
              <a:t> a </a:t>
            </a:r>
            <a:r>
              <a:rPr lang="en-US" sz="1400" dirty="0" err="1">
                <a:ea typeface="Calibri"/>
                <a:cs typeface="Calibri"/>
              </a:rPr>
              <a:t>derecha</a:t>
            </a:r>
            <a:r>
              <a:rPr lang="en-US" sz="1400" dirty="0">
                <a:ea typeface="Calibri"/>
                <a:cs typeface="Calibri"/>
              </a:rPr>
              <a:t>, </a:t>
            </a:r>
            <a:r>
              <a:rPr lang="en-US" sz="1400" dirty="0" err="1">
                <a:ea typeface="Calibri"/>
                <a:cs typeface="Calibri"/>
              </a:rPr>
              <a:t>siendo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el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silicio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el</a:t>
            </a:r>
            <a:r>
              <a:rPr lang="en-US" sz="1400" dirty="0">
                <a:ea typeface="Calibri"/>
                <a:cs typeface="Calibri"/>
              </a:rPr>
              <a:t> de mayor </a:t>
            </a:r>
            <a:r>
              <a:rPr lang="en-US" sz="1400" dirty="0" err="1">
                <a:ea typeface="Calibri"/>
                <a:cs typeface="Calibri"/>
              </a:rPr>
              <a:t>variación</a:t>
            </a:r>
            <a:r>
              <a:rPr lang="en-US" sz="1400" dirty="0">
                <a:ea typeface="Calibri"/>
                <a:cs typeface="Calibri"/>
              </a:rPr>
              <a:t>.</a:t>
            </a:r>
          </a:p>
        </p:txBody>
      </p:sp>
      <p:pic>
        <p:nvPicPr>
          <p:cNvPr id="8" name="Imagen 7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A6C4061B-1962-8865-D751-DB73AA987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655" y="1063280"/>
            <a:ext cx="3828774" cy="2997614"/>
          </a:xfrm>
          <a:prstGeom prst="rect">
            <a:avLst/>
          </a:prstGeom>
        </p:spPr>
      </p:pic>
      <p:pic>
        <p:nvPicPr>
          <p:cNvPr id="9" name="Imagen 8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4E1003CE-01B5-65B1-418F-73CE834B01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5769" y="1063280"/>
            <a:ext cx="3890894" cy="2997614"/>
          </a:xfrm>
          <a:prstGeom prst="rect">
            <a:avLst/>
          </a:prstGeom>
        </p:spPr>
      </p:pic>
      <p:pic>
        <p:nvPicPr>
          <p:cNvPr id="10" name="Imagen 9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26089FBF-49BF-AF35-6D40-B98E9639F7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8104" y="1063280"/>
            <a:ext cx="3956049" cy="299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57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51787-5927-BB1C-6AD0-B18D77BB7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D1E3018F-3EC3-EA58-A56E-C7958E8BA5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56453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l"/>
            <a:r>
              <a:rPr lang="es-ES" sz="2500" spc="-5" dirty="0">
                <a:solidFill>
                  <a:srgbClr val="000000"/>
                </a:solidFill>
                <a:ea typeface="Calibri"/>
              </a:rPr>
              <a:t>1.2. Cross - </a:t>
            </a:r>
            <a:r>
              <a:rPr lang="es-ES" sz="2500" spc="-5" dirty="0" err="1">
                <a:solidFill>
                  <a:srgbClr val="000000"/>
                </a:solidFill>
                <a:ea typeface="Calibri"/>
              </a:rPr>
              <a:t>Section</a:t>
            </a:r>
            <a:r>
              <a:rPr lang="es-ES" sz="2500" spc="-5" dirty="0">
                <a:solidFill>
                  <a:srgbClr val="000000"/>
                </a:solidFill>
                <a:ea typeface="Calibri"/>
              </a:rPr>
              <a:t> </a:t>
            </a:r>
            <a:r>
              <a:rPr lang="es-ES" sz="2500" spc="-5" dirty="0" err="1">
                <a:solidFill>
                  <a:srgbClr val="000000"/>
                </a:solidFill>
                <a:ea typeface="Calibri"/>
              </a:rPr>
              <a:t>Definition</a:t>
            </a:r>
            <a:endParaRPr lang="es-ES" dirty="0" err="1"/>
          </a:p>
          <a:p>
            <a:pPr marL="12700" algn="l"/>
            <a:endParaRPr lang="es-ES" sz="2500" spc="-5" dirty="0">
              <a:ea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br>
              <a:rPr lang="es-ES" sz="2500" spc="-5" dirty="0">
                <a:latin typeface="+mj-lt"/>
                <a:cs typeface="Lucida Sans"/>
              </a:rPr>
            </a:br>
            <a:endParaRPr sz="2500" b="0">
              <a:latin typeface="+mj-lt"/>
              <a:ea typeface="Calibri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2F01FA6-9255-A3CA-59C5-01B7A8227B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C401A5E5-7141-EC65-728F-21E0E035A41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554DE52-9DEA-4148-21A2-B4761866AFA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133A5E-5181-1DBB-7085-49EAA398404D}"/>
              </a:ext>
            </a:extLst>
          </p:cNvPr>
          <p:cNvSpPr txBox="1"/>
          <p:nvPr/>
        </p:nvSpPr>
        <p:spPr>
          <a:xfrm>
            <a:off x="686744" y="4363377"/>
            <a:ext cx="11122668" cy="1169551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400" dirty="0">
                <a:ea typeface="+mn-lt"/>
                <a:cs typeface="+mn-lt"/>
              </a:rPr>
              <a:t>En la </a:t>
            </a:r>
            <a:r>
              <a:rPr lang="en-US" sz="1400" dirty="0" err="1">
                <a:ea typeface="+mn-lt"/>
                <a:cs typeface="+mn-lt"/>
              </a:rPr>
              <a:t>sección</a:t>
            </a:r>
            <a:r>
              <a:rPr lang="en-US" sz="1400" dirty="0">
                <a:ea typeface="+mn-lt"/>
                <a:cs typeface="+mn-lt"/>
              </a:rPr>
              <a:t> 1.2 hemos </a:t>
            </a:r>
            <a:r>
              <a:rPr lang="en-US" sz="1400" dirty="0" err="1">
                <a:ea typeface="+mn-lt"/>
                <a:cs typeface="+mn-lt"/>
              </a:rPr>
              <a:t>analizado</a:t>
            </a:r>
            <a:r>
              <a:rPr lang="en-US" sz="1400" dirty="0">
                <a:ea typeface="+mn-lt"/>
                <a:cs typeface="+mn-lt"/>
              </a:rPr>
              <a:t> la </a:t>
            </a:r>
            <a:r>
              <a:rPr lang="en-US" sz="1400" dirty="0" err="1">
                <a:ea typeface="+mn-lt"/>
                <a:cs typeface="+mn-lt"/>
              </a:rPr>
              <a:t>sección</a:t>
            </a:r>
            <a:r>
              <a:rPr lang="en-US" sz="1400" dirty="0">
                <a:ea typeface="+mn-lt"/>
                <a:cs typeface="+mn-lt"/>
              </a:rPr>
              <a:t> transversal de la </a:t>
            </a:r>
            <a:r>
              <a:rPr lang="en-US" sz="1400" dirty="0" err="1">
                <a:ea typeface="+mn-lt"/>
                <a:cs typeface="+mn-lt"/>
              </a:rPr>
              <a:t>guía</a:t>
            </a:r>
            <a:r>
              <a:rPr lang="en-US" sz="1400" dirty="0">
                <a:ea typeface="+mn-lt"/>
                <a:cs typeface="+mn-lt"/>
              </a:rPr>
              <a:t> para </a:t>
            </a:r>
            <a:r>
              <a:rPr lang="en-US" sz="1400" dirty="0" err="1">
                <a:ea typeface="+mn-lt"/>
                <a:cs typeface="+mn-lt"/>
              </a:rPr>
              <a:t>entender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cómo</a:t>
            </a:r>
            <a:r>
              <a:rPr lang="en-US" sz="1400" dirty="0">
                <a:ea typeface="+mn-lt"/>
                <a:cs typeface="+mn-lt"/>
              </a:rPr>
              <a:t> se </a:t>
            </a:r>
            <a:r>
              <a:rPr lang="en-US" sz="1400" dirty="0" err="1">
                <a:ea typeface="+mn-lt"/>
                <a:cs typeface="+mn-lt"/>
              </a:rPr>
              <a:t>distribuyen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los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materiales</a:t>
            </a:r>
            <a:r>
              <a:rPr lang="en-US" sz="1400" dirty="0">
                <a:ea typeface="+mn-lt"/>
                <a:cs typeface="+mn-lt"/>
              </a:rPr>
              <a:t>. En la </a:t>
            </a:r>
            <a:r>
              <a:rPr lang="en-US" sz="1400" dirty="0" err="1">
                <a:ea typeface="+mn-lt"/>
                <a:cs typeface="+mn-lt"/>
              </a:rPr>
              <a:t>captura</a:t>
            </a:r>
            <a:r>
              <a:rPr lang="en-US" sz="1400" dirty="0">
                <a:ea typeface="+mn-lt"/>
                <a:cs typeface="+mn-lt"/>
              </a:rPr>
              <a:t> se </a:t>
            </a:r>
            <a:r>
              <a:rPr lang="en-US" sz="1400" dirty="0" err="1">
                <a:ea typeface="+mn-lt"/>
                <a:cs typeface="+mn-lt"/>
              </a:rPr>
              <a:t>ve</a:t>
            </a:r>
            <a:r>
              <a:rPr lang="en-US" sz="1400" dirty="0">
                <a:ea typeface="+mn-lt"/>
                <a:cs typeface="+mn-lt"/>
              </a:rPr>
              <a:t> la </a:t>
            </a:r>
            <a:r>
              <a:rPr lang="en-US" sz="1400" dirty="0" err="1">
                <a:ea typeface="+mn-lt"/>
                <a:cs typeface="+mn-lt"/>
              </a:rPr>
              <a:t>región</a:t>
            </a:r>
            <a:r>
              <a:rPr lang="en-US" sz="1400" dirty="0">
                <a:ea typeface="+mn-lt"/>
                <a:cs typeface="+mn-lt"/>
              </a:rPr>
              <a:t> morada,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es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revestimiento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dióxido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silicio</a:t>
            </a:r>
            <a:r>
              <a:rPr lang="en-US" sz="1400" dirty="0">
                <a:ea typeface="+mn-lt"/>
                <a:cs typeface="+mn-lt"/>
              </a:rPr>
              <a:t> (n≈1.45), y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núcleo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nitruro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silicio</a:t>
            </a:r>
            <a:r>
              <a:rPr lang="en-US" sz="1400" dirty="0">
                <a:ea typeface="+mn-lt"/>
                <a:cs typeface="+mn-lt"/>
              </a:rPr>
              <a:t> (n≈2). Lo </a:t>
            </a:r>
            <a:r>
              <a:rPr lang="en-US" sz="1400" dirty="0" err="1">
                <a:ea typeface="+mn-lt"/>
                <a:cs typeface="+mn-lt"/>
              </a:rPr>
              <a:t>importante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aquí</a:t>
            </a:r>
            <a:r>
              <a:rPr lang="en-US" sz="1400" dirty="0">
                <a:ea typeface="+mn-lt"/>
                <a:cs typeface="+mn-lt"/>
              </a:rPr>
              <a:t> es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índice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efectivo</a:t>
            </a:r>
            <a:r>
              <a:rPr lang="en-US" sz="1400" dirty="0">
                <a:ea typeface="+mn-lt"/>
                <a:cs typeface="+mn-lt"/>
              </a:rPr>
              <a:t> (</a:t>
            </a:r>
            <a:r>
              <a:rPr lang="en-US" sz="1400" dirty="0" err="1">
                <a:ea typeface="+mn-lt"/>
                <a:cs typeface="+mn-lt"/>
              </a:rPr>
              <a:t>neff</a:t>
            </a:r>
            <a:r>
              <a:rPr lang="en-US" sz="1400" dirty="0">
                <a:ea typeface="+mn-lt"/>
                <a:cs typeface="+mn-lt"/>
              </a:rPr>
              <a:t> ),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básicamente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nos</a:t>
            </a:r>
            <a:r>
              <a:rPr lang="en-US" sz="1400" dirty="0">
                <a:ea typeface="+mn-lt"/>
                <a:cs typeface="+mn-lt"/>
              </a:rPr>
              <a:t> dice </a:t>
            </a:r>
            <a:r>
              <a:rPr lang="en-US" sz="1400" dirty="0" err="1">
                <a:ea typeface="+mn-lt"/>
                <a:cs typeface="+mn-lt"/>
              </a:rPr>
              <a:t>por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dónde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prefiere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viajar</a:t>
            </a:r>
            <a:r>
              <a:rPr lang="en-US" sz="1400" dirty="0">
                <a:ea typeface="+mn-lt"/>
                <a:cs typeface="+mn-lt"/>
              </a:rPr>
              <a:t> la luz. Si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modo </a:t>
            </a:r>
            <a:r>
              <a:rPr lang="en-US" sz="1400" dirty="0" err="1">
                <a:ea typeface="+mn-lt"/>
                <a:cs typeface="+mn-lt"/>
              </a:rPr>
              <a:t>va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muy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confinado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por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núcleo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neff</a:t>
            </a:r>
            <a:r>
              <a:rPr lang="en-US" sz="1400" dirty="0">
                <a:ea typeface="+mn-lt"/>
                <a:cs typeface="+mn-lt"/>
              </a:rPr>
              <a:t>  </a:t>
            </a:r>
            <a:r>
              <a:rPr lang="en-US" sz="1400" dirty="0" err="1">
                <a:ea typeface="+mn-lt"/>
                <a:cs typeface="+mn-lt"/>
              </a:rPr>
              <a:t>estará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cerca</a:t>
            </a:r>
            <a:r>
              <a:rPr lang="en-US" sz="1400" dirty="0">
                <a:ea typeface="+mn-lt"/>
                <a:cs typeface="+mn-lt"/>
              </a:rPr>
              <a:t> de 2, </a:t>
            </a:r>
            <a:r>
              <a:rPr lang="en-US" sz="1400" dirty="0" err="1">
                <a:ea typeface="+mn-lt"/>
                <a:cs typeface="+mn-lt"/>
              </a:rPr>
              <a:t>pero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si</a:t>
            </a:r>
            <a:r>
              <a:rPr lang="en-US" sz="1400" dirty="0">
                <a:ea typeface="+mn-lt"/>
                <a:cs typeface="+mn-lt"/>
              </a:rPr>
              <a:t> se </a:t>
            </a:r>
            <a:r>
              <a:rPr lang="en-US" sz="1400" dirty="0" err="1">
                <a:ea typeface="+mn-lt"/>
                <a:cs typeface="+mn-lt"/>
              </a:rPr>
              <a:t>desparrama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hacia</a:t>
            </a:r>
            <a:r>
              <a:rPr lang="en-US" sz="1400" dirty="0">
                <a:ea typeface="+mn-lt"/>
                <a:cs typeface="+mn-lt"/>
              </a:rPr>
              <a:t> la </a:t>
            </a:r>
            <a:r>
              <a:rPr lang="en-US" sz="1400" dirty="0" err="1">
                <a:ea typeface="+mn-lt"/>
                <a:cs typeface="+mn-lt"/>
              </a:rPr>
              <a:t>cubierta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bajará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hacia</a:t>
            </a:r>
            <a:r>
              <a:rPr lang="en-US" sz="1400" dirty="0">
                <a:ea typeface="+mn-lt"/>
                <a:cs typeface="+mn-lt"/>
              </a:rPr>
              <a:t> 1.45. Por </a:t>
            </a:r>
            <a:r>
              <a:rPr lang="en-US" sz="1400" dirty="0" err="1">
                <a:ea typeface="+mn-lt"/>
                <a:cs typeface="+mn-lt"/>
              </a:rPr>
              <a:t>eso</a:t>
            </a:r>
            <a:r>
              <a:rPr lang="en-US" sz="1400" dirty="0">
                <a:ea typeface="+mn-lt"/>
                <a:cs typeface="+mn-lt"/>
              </a:rPr>
              <a:t>, para </a:t>
            </a:r>
            <a:r>
              <a:rPr lang="en-US" sz="1400" dirty="0" err="1">
                <a:ea typeface="+mn-lt"/>
                <a:cs typeface="+mn-lt"/>
              </a:rPr>
              <a:t>confirmar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modo </a:t>
            </a:r>
            <a:r>
              <a:rPr lang="en-US" sz="1400" dirty="0" err="1">
                <a:ea typeface="+mn-lt"/>
                <a:cs typeface="+mn-lt"/>
              </a:rPr>
              <a:t>está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realmente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guiado</a:t>
            </a:r>
            <a:r>
              <a:rPr lang="en-US" sz="1400" dirty="0">
                <a:ea typeface="+mn-lt"/>
                <a:cs typeface="+mn-lt"/>
              </a:rPr>
              <a:t> y no se </a:t>
            </a:r>
            <a:r>
              <a:rPr lang="en-US" sz="1400" dirty="0" err="1">
                <a:ea typeface="+mn-lt"/>
                <a:cs typeface="+mn-lt"/>
              </a:rPr>
              <a:t>pierde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valor de </a:t>
            </a:r>
            <a:r>
              <a:rPr lang="en-US" sz="1400" dirty="0" err="1">
                <a:ea typeface="+mn-lt"/>
                <a:cs typeface="+mn-lt"/>
              </a:rPr>
              <a:t>neff</a:t>
            </a:r>
            <a:r>
              <a:rPr lang="en-US" sz="1400" dirty="0">
                <a:ea typeface="+mn-lt"/>
                <a:cs typeface="+mn-lt"/>
              </a:rPr>
              <a:t> 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obtengamos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tiene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estar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siempre</a:t>
            </a:r>
            <a:r>
              <a:rPr lang="en-US" sz="1400" dirty="0">
                <a:ea typeface="+mn-lt"/>
                <a:cs typeface="+mn-lt"/>
              </a:rPr>
              <a:t> entre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índice</a:t>
            </a:r>
            <a:r>
              <a:rPr lang="en-US" sz="1400" dirty="0">
                <a:ea typeface="+mn-lt"/>
                <a:cs typeface="+mn-lt"/>
              </a:rPr>
              <a:t> del </a:t>
            </a:r>
            <a:r>
              <a:rPr lang="en-US" sz="1400" dirty="0" err="1">
                <a:ea typeface="+mn-lt"/>
                <a:cs typeface="+mn-lt"/>
              </a:rPr>
              <a:t>núcleo</a:t>
            </a:r>
            <a:r>
              <a:rPr lang="en-US" sz="1400" dirty="0">
                <a:ea typeface="+mn-lt"/>
                <a:cs typeface="+mn-lt"/>
              </a:rPr>
              <a:t> y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del </a:t>
            </a:r>
            <a:r>
              <a:rPr lang="en-US" sz="1400" dirty="0" err="1">
                <a:ea typeface="+mn-lt"/>
                <a:cs typeface="+mn-lt"/>
              </a:rPr>
              <a:t>revestimiento</a:t>
            </a:r>
            <a:r>
              <a:rPr lang="en-US" sz="1400" dirty="0">
                <a:ea typeface="+mn-lt"/>
                <a:cs typeface="+mn-lt"/>
              </a:rPr>
              <a:t>.</a:t>
            </a:r>
            <a:endParaRPr lang="es-ES" dirty="0"/>
          </a:p>
        </p:txBody>
      </p:sp>
      <p:pic>
        <p:nvPicPr>
          <p:cNvPr id="4" name="Imagen 3" descr="Gráfico&#10;&#10;El contenido generado por IA puede ser incorrecto.">
            <a:extLst>
              <a:ext uri="{FF2B5EF4-FFF2-40B4-BE49-F238E27FC236}">
                <a16:creationId xmlns:a16="http://schemas.microsoft.com/office/drawing/2014/main" id="{85056E5C-7BF4-D889-8A19-850833BC8D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4602" y="985323"/>
            <a:ext cx="4267715" cy="312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8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B1ABD-54B0-B375-04B8-A6DAF30A7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B4F5DE93-67AA-E313-C6DD-AF9506BACE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94925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l"/>
            <a:r>
              <a:rPr lang="es-ES" sz="2500" spc="-5" dirty="0">
                <a:solidFill>
                  <a:srgbClr val="000000"/>
                </a:solidFill>
                <a:ea typeface="Calibri"/>
              </a:rPr>
              <a:t>1.3. </a:t>
            </a:r>
            <a:r>
              <a:rPr lang="es-ES" sz="2500" spc="-5" dirty="0" err="1">
                <a:solidFill>
                  <a:srgbClr val="000000"/>
                </a:solidFill>
                <a:ea typeface="Calibri"/>
              </a:rPr>
              <a:t>Simulations</a:t>
            </a:r>
            <a:r>
              <a:rPr lang="es-ES" sz="2500" spc="-5" dirty="0">
                <a:solidFill>
                  <a:srgbClr val="000000"/>
                </a:solidFill>
                <a:ea typeface="Calibri"/>
              </a:rPr>
              <a:t>– </a:t>
            </a:r>
            <a:r>
              <a:rPr lang="es-ES" sz="2500" spc="-5" dirty="0" err="1">
                <a:solidFill>
                  <a:srgbClr val="000000"/>
                </a:solidFill>
                <a:ea typeface="Calibri"/>
              </a:rPr>
              <a:t>Numerical</a:t>
            </a:r>
            <a:r>
              <a:rPr lang="es-ES" sz="2500" spc="-5" dirty="0">
                <a:solidFill>
                  <a:srgbClr val="000000"/>
                </a:solidFill>
                <a:ea typeface="Calibri"/>
              </a:rPr>
              <a:t> </a:t>
            </a:r>
            <a:r>
              <a:rPr lang="es-ES" sz="2500" spc="-5" dirty="0" err="1">
                <a:solidFill>
                  <a:srgbClr val="000000"/>
                </a:solidFill>
                <a:ea typeface="Calibri"/>
              </a:rPr>
              <a:t>results</a:t>
            </a:r>
            <a:endParaRPr lang="es-ES" dirty="0" err="1">
              <a:ea typeface="Calibri"/>
            </a:endParaRPr>
          </a:p>
          <a:p>
            <a:pPr marL="12700" algn="l"/>
            <a:endParaRPr lang="es-ES" sz="2500" spc="-5" dirty="0">
              <a:ea typeface="Calibri"/>
            </a:endParaRPr>
          </a:p>
          <a:p>
            <a:pPr marL="12700" algn="l"/>
            <a:endParaRPr lang="es-ES" sz="2500" spc="-5" dirty="0">
              <a:ea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br>
              <a:rPr lang="es-ES" sz="2500" spc="-5" dirty="0">
                <a:latin typeface="+mj-lt"/>
                <a:cs typeface="Lucida Sans"/>
              </a:rPr>
            </a:br>
            <a:endParaRPr sz="2500" b="0">
              <a:latin typeface="+mj-lt"/>
              <a:ea typeface="Calibri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F9BF9E94-A8EB-201C-C7A0-83FD8C6AED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332BF5F2-D3A3-48C0-54FC-82EDD092F2B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7B0CA3-5434-F7A8-80AB-1A18B89D239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BC31727-C7D7-8B00-ABA5-EF18F86EB92B}"/>
              </a:ext>
            </a:extLst>
          </p:cNvPr>
          <p:cNvSpPr txBox="1"/>
          <p:nvPr/>
        </p:nvSpPr>
        <p:spPr>
          <a:xfrm>
            <a:off x="604637" y="4363377"/>
            <a:ext cx="11132694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400" dirty="0">
                <a:ea typeface="+mn-lt"/>
                <a:cs typeface="+mn-lt"/>
              </a:rPr>
              <a:t>En la </a:t>
            </a:r>
            <a:r>
              <a:rPr lang="en-US" sz="1400" dirty="0" err="1">
                <a:ea typeface="+mn-lt"/>
                <a:cs typeface="+mn-lt"/>
              </a:rPr>
              <a:t>sección</a:t>
            </a:r>
            <a:r>
              <a:rPr lang="en-US" sz="1400" dirty="0">
                <a:ea typeface="+mn-lt"/>
                <a:cs typeface="+mn-lt"/>
              </a:rPr>
              <a:t> 1.3 </a:t>
            </a:r>
            <a:r>
              <a:rPr lang="en-US" sz="1400" dirty="0" err="1">
                <a:ea typeface="+mn-lt"/>
                <a:cs typeface="+mn-lt"/>
              </a:rPr>
              <a:t>hemos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analizado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los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resultados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numéricos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los</a:t>
            </a:r>
            <a:r>
              <a:rPr lang="en-US" sz="1400" dirty="0">
                <a:ea typeface="+mn-lt"/>
                <a:cs typeface="+mn-lt"/>
              </a:rPr>
              <a:t> cuatro </a:t>
            </a:r>
            <a:r>
              <a:rPr lang="en-US" sz="1400" dirty="0" err="1">
                <a:ea typeface="+mn-lt"/>
                <a:cs typeface="+mn-lt"/>
              </a:rPr>
              <a:t>modos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calculados</a:t>
            </a:r>
            <a:r>
              <a:rPr lang="en-US" sz="1400" dirty="0">
                <a:ea typeface="+mn-lt"/>
                <a:cs typeface="+mn-lt"/>
              </a:rPr>
              <a:t>. Como se </a:t>
            </a:r>
            <a:r>
              <a:rPr lang="en-US" sz="1400" dirty="0" err="1">
                <a:ea typeface="+mn-lt"/>
                <a:cs typeface="+mn-lt"/>
              </a:rPr>
              <a:t>ve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la </a:t>
            </a:r>
            <a:r>
              <a:rPr lang="en-US" sz="1400" dirty="0" err="1">
                <a:ea typeface="+mn-lt"/>
                <a:cs typeface="+mn-lt"/>
              </a:rPr>
              <a:t>tabla</a:t>
            </a:r>
            <a:r>
              <a:rPr lang="en-US" sz="1400" dirty="0">
                <a:ea typeface="+mn-lt"/>
                <a:cs typeface="+mn-lt"/>
              </a:rPr>
              <a:t>, solo </a:t>
            </a:r>
            <a:r>
              <a:rPr lang="en-US" sz="1400" dirty="0" err="1">
                <a:ea typeface="+mn-lt"/>
                <a:cs typeface="+mn-lt"/>
              </a:rPr>
              <a:t>los</a:t>
            </a:r>
            <a:r>
              <a:rPr lang="en-US" sz="1400" dirty="0">
                <a:ea typeface="+mn-lt"/>
                <a:cs typeface="+mn-lt"/>
              </a:rPr>
              <a:t> dos primeros </a:t>
            </a:r>
            <a:r>
              <a:rPr lang="en-US" sz="1400" dirty="0" err="1">
                <a:ea typeface="+mn-lt"/>
                <a:cs typeface="+mn-lt"/>
              </a:rPr>
              <a:t>modos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tienen</a:t>
            </a:r>
            <a:r>
              <a:rPr lang="en-US" sz="1400" dirty="0">
                <a:ea typeface="+mn-lt"/>
                <a:cs typeface="+mn-lt"/>
              </a:rPr>
              <a:t> un </a:t>
            </a:r>
            <a:r>
              <a:rPr lang="en-US" sz="1400" dirty="0" err="1">
                <a:ea typeface="+mn-lt"/>
                <a:cs typeface="+mn-lt"/>
              </a:rPr>
              <a:t>neff</a:t>
            </a:r>
            <a:r>
              <a:rPr lang="en-US" sz="1400" dirty="0">
                <a:ea typeface="+mn-lt"/>
                <a:cs typeface="+mn-lt"/>
              </a:rPr>
              <a:t>  mayor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del cladding (1.45), lo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confirma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son </a:t>
            </a:r>
            <a:r>
              <a:rPr lang="en-US" sz="1400" dirty="0" err="1">
                <a:ea typeface="+mn-lt"/>
                <a:cs typeface="+mn-lt"/>
              </a:rPr>
              <a:t>los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únicos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realmente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guiados</a:t>
            </a:r>
            <a:r>
              <a:rPr lang="en-US" sz="1400" dirty="0">
                <a:ea typeface="+mn-lt"/>
                <a:cs typeface="+mn-lt"/>
              </a:rPr>
              <a:t>. El primer modo es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fundamental TE0; es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más</a:t>
            </a:r>
            <a:r>
              <a:rPr lang="en-US" sz="1400" dirty="0">
                <a:ea typeface="+mn-lt"/>
                <a:cs typeface="+mn-lt"/>
              </a:rPr>
              <a:t> se </a:t>
            </a:r>
            <a:r>
              <a:rPr lang="en-US" sz="1400" dirty="0" err="1">
                <a:ea typeface="+mn-lt"/>
                <a:cs typeface="+mn-lt"/>
              </a:rPr>
              <a:t>queda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núcleo</a:t>
            </a:r>
            <a:r>
              <a:rPr lang="en-US" sz="1400" dirty="0">
                <a:ea typeface="+mn-lt"/>
                <a:cs typeface="+mn-lt"/>
              </a:rPr>
              <a:t> y </a:t>
            </a:r>
            <a:r>
              <a:rPr lang="en-US" sz="1400" dirty="0" err="1">
                <a:ea typeface="+mn-lt"/>
                <a:cs typeface="+mn-lt"/>
              </a:rPr>
              <a:t>por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eso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tiene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índice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efectivo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más</a:t>
            </a:r>
            <a:r>
              <a:rPr lang="en-US" sz="1400" dirty="0">
                <a:ea typeface="+mn-lt"/>
                <a:cs typeface="+mn-lt"/>
              </a:rPr>
              <a:t> alto. El </a:t>
            </a:r>
            <a:r>
              <a:rPr lang="en-US" sz="1400" dirty="0" err="1">
                <a:ea typeface="+mn-lt"/>
                <a:cs typeface="+mn-lt"/>
              </a:rPr>
              <a:t>segundo</a:t>
            </a:r>
            <a:r>
              <a:rPr lang="en-US" sz="1400" dirty="0">
                <a:ea typeface="+mn-lt"/>
                <a:cs typeface="+mn-lt"/>
              </a:rPr>
              <a:t> modo </a:t>
            </a:r>
            <a:r>
              <a:rPr lang="en-US" sz="1400" dirty="0" err="1">
                <a:ea typeface="+mn-lt"/>
                <a:cs typeface="+mn-lt"/>
              </a:rPr>
              <a:t>tiene</a:t>
            </a:r>
            <a:r>
              <a:rPr lang="en-US" sz="1400" dirty="0">
                <a:ea typeface="+mn-lt"/>
                <a:cs typeface="+mn-lt"/>
              </a:rPr>
              <a:t> un </a:t>
            </a:r>
            <a:r>
              <a:rPr lang="en-US" sz="1400" dirty="0" err="1">
                <a:ea typeface="+mn-lt"/>
                <a:cs typeface="+mn-lt"/>
              </a:rPr>
              <a:t>neff</a:t>
            </a:r>
            <a:r>
              <a:rPr lang="en-US" sz="1400" dirty="0">
                <a:ea typeface="+mn-lt"/>
                <a:cs typeface="+mn-lt"/>
              </a:rPr>
              <a:t>  algo </a:t>
            </a:r>
            <a:r>
              <a:rPr lang="en-US" sz="1400" dirty="0" err="1">
                <a:ea typeface="+mn-lt"/>
                <a:cs typeface="+mn-lt"/>
              </a:rPr>
              <a:t>más</a:t>
            </a:r>
            <a:r>
              <a:rPr lang="en-US" sz="1400" dirty="0">
                <a:ea typeface="+mn-lt"/>
                <a:cs typeface="+mn-lt"/>
              </a:rPr>
              <a:t> bajo </a:t>
            </a:r>
            <a:r>
              <a:rPr lang="en-US" sz="1400" dirty="0" err="1">
                <a:ea typeface="+mn-lt"/>
                <a:cs typeface="+mn-lt"/>
              </a:rPr>
              <a:t>porque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interactúa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más</a:t>
            </a:r>
            <a:r>
              <a:rPr lang="en-US" sz="1400" dirty="0">
                <a:ea typeface="+mn-lt"/>
                <a:cs typeface="+mn-lt"/>
              </a:rPr>
              <a:t> con la </a:t>
            </a:r>
            <a:r>
              <a:rPr lang="en-US" sz="1400" dirty="0" err="1">
                <a:ea typeface="+mn-lt"/>
                <a:cs typeface="+mn-lt"/>
              </a:rPr>
              <a:t>cubierta</a:t>
            </a:r>
            <a:r>
              <a:rPr lang="en-US" sz="1400" dirty="0">
                <a:ea typeface="+mn-lt"/>
                <a:cs typeface="+mn-lt"/>
              </a:rPr>
              <a:t>, y gracias al </a:t>
            </a:r>
            <a:r>
              <a:rPr lang="en-US" sz="1400" dirty="0" err="1">
                <a:ea typeface="+mn-lt"/>
                <a:cs typeface="+mn-lt"/>
              </a:rPr>
              <a:t>parámetro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fraction_te</a:t>
            </a:r>
            <a:r>
              <a:rPr lang="en-US" sz="1400" dirty="0">
                <a:ea typeface="+mn-lt"/>
                <a:cs typeface="+mn-lt"/>
              </a:rPr>
              <a:t> (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es </a:t>
            </a:r>
            <a:r>
              <a:rPr lang="en-US" sz="1400" dirty="0" err="1">
                <a:ea typeface="+mn-lt"/>
                <a:cs typeface="+mn-lt"/>
              </a:rPr>
              <a:t>casi</a:t>
            </a:r>
            <a:r>
              <a:rPr lang="en-US" sz="1400" dirty="0">
                <a:ea typeface="+mn-lt"/>
                <a:cs typeface="+mn-lt"/>
              </a:rPr>
              <a:t> 0), </a:t>
            </a:r>
            <a:r>
              <a:rPr lang="en-US" sz="1400" dirty="0" err="1">
                <a:ea typeface="+mn-lt"/>
                <a:cs typeface="+mn-lt"/>
              </a:rPr>
              <a:t>sabemos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es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modo TM0. Los </a:t>
            </a:r>
            <a:r>
              <a:rPr lang="en-US" sz="1400" dirty="0" err="1">
                <a:ea typeface="+mn-lt"/>
                <a:cs typeface="+mn-lt"/>
              </a:rPr>
              <a:t>otros</a:t>
            </a:r>
            <a:r>
              <a:rPr lang="en-US" sz="1400" dirty="0">
                <a:ea typeface="+mn-lt"/>
                <a:cs typeface="+mn-lt"/>
              </a:rPr>
              <a:t> dos </a:t>
            </a:r>
            <a:r>
              <a:rPr lang="en-US" sz="1400" dirty="0" err="1">
                <a:ea typeface="+mn-lt"/>
                <a:cs typeface="+mn-lt"/>
              </a:rPr>
              <a:t>modos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tienen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índices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por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debajo</a:t>
            </a:r>
            <a:r>
              <a:rPr lang="en-US" sz="1400" dirty="0">
                <a:ea typeface="+mn-lt"/>
                <a:cs typeface="+mn-lt"/>
              </a:rPr>
              <a:t> de 1.45, </a:t>
            </a:r>
            <a:r>
              <a:rPr lang="en-US" sz="1400" dirty="0" err="1">
                <a:ea typeface="+mn-lt"/>
                <a:cs typeface="+mn-lt"/>
              </a:rPr>
              <a:t>así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no </a:t>
            </a:r>
            <a:r>
              <a:rPr lang="en-US" sz="1400" dirty="0" err="1">
                <a:ea typeface="+mn-lt"/>
                <a:cs typeface="+mn-lt"/>
              </a:rPr>
              <a:t>están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guiados</a:t>
            </a:r>
            <a:r>
              <a:rPr lang="en-US" sz="1400" dirty="0">
                <a:ea typeface="+mn-lt"/>
                <a:cs typeface="+mn-lt"/>
              </a:rPr>
              <a:t> y se </a:t>
            </a:r>
            <a:r>
              <a:rPr lang="en-US" sz="1400" dirty="0" err="1">
                <a:ea typeface="+mn-lt"/>
                <a:cs typeface="+mn-lt"/>
              </a:rPr>
              <a:t>perderían</a:t>
            </a:r>
            <a:r>
              <a:rPr lang="en-US" sz="1400" dirty="0">
                <a:ea typeface="+mn-lt"/>
                <a:cs typeface="+mn-lt"/>
              </a:rPr>
              <a:t>. </a:t>
            </a:r>
            <a:r>
              <a:rPr lang="en-US" sz="1400" dirty="0" err="1">
                <a:ea typeface="+mn-lt"/>
                <a:cs typeface="+mn-lt"/>
              </a:rPr>
              <a:t>Además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aunque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programa</a:t>
            </a:r>
            <a:r>
              <a:rPr lang="en-US" sz="1400" dirty="0">
                <a:ea typeface="+mn-lt"/>
                <a:cs typeface="+mn-lt"/>
              </a:rPr>
              <a:t> da </a:t>
            </a:r>
            <a:r>
              <a:rPr lang="en-US" sz="1400" dirty="0" err="1">
                <a:ea typeface="+mn-lt"/>
                <a:cs typeface="+mn-lt"/>
              </a:rPr>
              <a:t>una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parte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imaginaria</a:t>
            </a:r>
            <a:r>
              <a:rPr lang="en-US" sz="1400" dirty="0">
                <a:ea typeface="+mn-lt"/>
                <a:cs typeface="+mn-lt"/>
              </a:rPr>
              <a:t> para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índice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esta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simulación</a:t>
            </a:r>
            <a:r>
              <a:rPr lang="en-US" sz="1400" dirty="0">
                <a:ea typeface="+mn-lt"/>
                <a:cs typeface="+mn-lt"/>
              </a:rPr>
              <a:t> no </a:t>
            </a:r>
            <a:r>
              <a:rPr lang="en-US" sz="1400" dirty="0" err="1">
                <a:ea typeface="+mn-lt"/>
                <a:cs typeface="+mn-lt"/>
              </a:rPr>
              <a:t>tiene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sentido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físico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porque</a:t>
            </a:r>
            <a:r>
              <a:rPr lang="en-US" sz="1400" dirty="0">
                <a:ea typeface="+mn-lt"/>
                <a:cs typeface="+mn-lt"/>
              </a:rPr>
              <a:t> no </a:t>
            </a:r>
            <a:r>
              <a:rPr lang="en-US" sz="1400" dirty="0" err="1">
                <a:ea typeface="+mn-lt"/>
                <a:cs typeface="+mn-lt"/>
              </a:rPr>
              <a:t>hemos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incluido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pérdidas</a:t>
            </a:r>
            <a:r>
              <a:rPr lang="en-US" sz="1400" dirty="0">
                <a:ea typeface="+mn-lt"/>
                <a:cs typeface="+mn-lt"/>
              </a:rPr>
              <a:t> de material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modelo</a:t>
            </a:r>
            <a:r>
              <a:rPr lang="en-US" sz="1400" dirty="0">
                <a:ea typeface="+mn-lt"/>
                <a:cs typeface="+mn-lt"/>
              </a:rPr>
              <a:t>.</a:t>
            </a:r>
            <a:endParaRPr lang="es-ES" dirty="0"/>
          </a:p>
        </p:txBody>
      </p:sp>
      <p:pic>
        <p:nvPicPr>
          <p:cNvPr id="6" name="Imagen 5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A8CB3CB1-66EE-D496-C62D-3156434FC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5809" y="890973"/>
            <a:ext cx="8126113" cy="329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181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12244-8541-0E1B-9FE1-C02019CD8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67CC795-41AC-45B0-54E9-D43026FB72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17981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l"/>
            <a:r>
              <a:rPr lang="es-ES" sz="2500" spc="-5" dirty="0">
                <a:ea typeface="Calibri"/>
              </a:rPr>
              <a:t>1.3.Simulations–  </a:t>
            </a:r>
            <a:r>
              <a:rPr lang="es-ES" sz="2500" spc="-5" dirty="0" err="1">
                <a:ea typeface="Calibri"/>
              </a:rPr>
              <a:t>Plots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br>
              <a:rPr lang="es-ES" sz="2500" spc="-5" dirty="0">
                <a:latin typeface="+mj-lt"/>
                <a:cs typeface="Lucida Sans"/>
              </a:rPr>
            </a:br>
            <a:endParaRPr sz="2500" b="0">
              <a:latin typeface="+mj-lt"/>
              <a:ea typeface="Calibri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1312528-3902-EAEF-9C39-80A52CFBF5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6BC0D29-65D0-9318-9A37-9768010460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963D39-FE02-0A4F-C6E7-F9CF5CC625D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pic>
        <p:nvPicPr>
          <p:cNvPr id="4" name="Imagen 3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416F126E-1454-51AB-86A5-5B00B45A9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275" y="804091"/>
            <a:ext cx="4249180" cy="2871145"/>
          </a:xfrm>
          <a:prstGeom prst="rect">
            <a:avLst/>
          </a:prstGeom>
        </p:spPr>
      </p:pic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9066DE62-6E37-99DB-8918-848AD045EB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7112" y="412793"/>
            <a:ext cx="4249180" cy="2871145"/>
          </a:xfrm>
          <a:prstGeom prst="rect">
            <a:avLst/>
          </a:prstGeom>
        </p:spPr>
      </p:pic>
      <p:pic>
        <p:nvPicPr>
          <p:cNvPr id="6" name="Imagen 5" descr="Gráfico&#10;&#10;El contenido generado por IA puede ser incorrecto.">
            <a:extLst>
              <a:ext uri="{FF2B5EF4-FFF2-40B4-BE49-F238E27FC236}">
                <a16:creationId xmlns:a16="http://schemas.microsoft.com/office/drawing/2014/main" id="{3555D66B-494A-09B6-B963-F8E85675B7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205" y="3412397"/>
            <a:ext cx="4353183" cy="2926750"/>
          </a:xfrm>
          <a:prstGeom prst="rect">
            <a:avLst/>
          </a:prstGeom>
        </p:spPr>
      </p:pic>
      <p:pic>
        <p:nvPicPr>
          <p:cNvPr id="7" name="Imagen 6" descr="Gráfico, Histograma&#10;&#10;El contenido generado por IA puede ser incorrecto.">
            <a:extLst>
              <a:ext uri="{FF2B5EF4-FFF2-40B4-BE49-F238E27FC236}">
                <a16:creationId xmlns:a16="http://schemas.microsoft.com/office/drawing/2014/main" id="{1FE225AF-B2F4-AAB5-61B3-17AE7715E1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1746" y="3285740"/>
            <a:ext cx="4353183" cy="287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092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0E64E-E994-1C43-7F1A-D74E131F1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F93BA9E3-D619-4DD2-800D-E4CA505EED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94925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l"/>
            <a:r>
              <a:rPr lang="es-ES" sz="2500" spc="-5" dirty="0">
                <a:solidFill>
                  <a:srgbClr val="000000"/>
                </a:solidFill>
                <a:ea typeface="Calibri"/>
              </a:rPr>
              <a:t>1.3.Simulations– </a:t>
            </a:r>
            <a:r>
              <a:rPr lang="es-ES" sz="2500" spc="-5" dirty="0" err="1">
                <a:solidFill>
                  <a:srgbClr val="000000"/>
                </a:solidFill>
                <a:ea typeface="Calibri"/>
              </a:rPr>
              <a:t>Plots</a:t>
            </a:r>
            <a:endParaRPr lang="es-ES" dirty="0" err="1"/>
          </a:p>
          <a:p>
            <a:pPr marL="12700" algn="l"/>
            <a:endParaRPr lang="es-ES" sz="2500" spc="-5" dirty="0">
              <a:ea typeface="Calibri"/>
            </a:endParaRPr>
          </a:p>
          <a:p>
            <a:pPr marL="12700" algn="l"/>
            <a:endParaRPr lang="es-ES" sz="2500" spc="-5" dirty="0">
              <a:ea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br>
              <a:rPr lang="es-ES" sz="2500" spc="-5" dirty="0">
                <a:latin typeface="+mj-lt"/>
                <a:cs typeface="Lucida Sans"/>
              </a:rPr>
            </a:br>
            <a:endParaRPr sz="2500" b="0">
              <a:latin typeface="+mj-lt"/>
              <a:ea typeface="Calibri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CDB63E94-1A49-94B2-857E-18FC0E7406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8C6DA848-0F2D-A78E-696E-2892365853F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8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1D82B4E-0A5D-988F-9BEC-C8B23577074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BB630B9-681E-A083-11A6-727F36601A52}"/>
              </a:ext>
            </a:extLst>
          </p:cNvPr>
          <p:cNvSpPr txBox="1"/>
          <p:nvPr/>
        </p:nvSpPr>
        <p:spPr>
          <a:xfrm>
            <a:off x="532066" y="2639806"/>
            <a:ext cx="11132694" cy="3631763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En las </a:t>
            </a:r>
            <a:r>
              <a:rPr lang="en-US" dirty="0" err="1">
                <a:ea typeface="+mn-lt"/>
                <a:cs typeface="+mn-lt"/>
              </a:rPr>
              <a:t>imágenes</a:t>
            </a:r>
            <a:r>
              <a:rPr lang="en-US" dirty="0">
                <a:ea typeface="+mn-lt"/>
                <a:cs typeface="+mn-lt"/>
              </a:rPr>
              <a:t> de la </a:t>
            </a:r>
            <a:r>
              <a:rPr lang="en-US" dirty="0" err="1">
                <a:ea typeface="+mn-lt"/>
                <a:cs typeface="+mn-lt"/>
              </a:rPr>
              <a:t>diapositiva</a:t>
            </a:r>
            <a:r>
              <a:rPr lang="en-US" dirty="0">
                <a:ea typeface="+mn-lt"/>
                <a:cs typeface="+mn-lt"/>
              </a:rPr>
              <a:t> anterior se </a:t>
            </a:r>
            <a:r>
              <a:rPr lang="en-US" dirty="0" err="1">
                <a:ea typeface="+mn-lt"/>
                <a:cs typeface="+mn-lt"/>
              </a:rPr>
              <a:t>representan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los</a:t>
            </a:r>
            <a:r>
              <a:rPr lang="en-US" dirty="0">
                <a:ea typeface="+mn-lt"/>
                <a:cs typeface="+mn-lt"/>
              </a:rPr>
              <a:t> cuatro </a:t>
            </a:r>
            <a:r>
              <a:rPr lang="en-US" dirty="0" err="1">
                <a:ea typeface="+mn-lt"/>
                <a:cs typeface="+mn-lt"/>
              </a:rPr>
              <a:t>modos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hemos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calculado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previamente</a:t>
            </a:r>
            <a:r>
              <a:rPr lang="en-US" dirty="0">
                <a:ea typeface="+mn-lt"/>
                <a:cs typeface="+mn-lt"/>
              </a:rPr>
              <a:t>. El modo TE0,  al </a:t>
            </a:r>
            <a:r>
              <a:rPr lang="en-US" dirty="0" err="1">
                <a:ea typeface="+mn-lt"/>
                <a:cs typeface="+mn-lt"/>
              </a:rPr>
              <a:t>tener</a:t>
            </a:r>
            <a:r>
              <a:rPr lang="en-US" dirty="0">
                <a:ea typeface="+mn-lt"/>
                <a:cs typeface="+mn-lt"/>
              </a:rPr>
              <a:t> un </a:t>
            </a:r>
            <a:r>
              <a:rPr lang="en-US" dirty="0" err="1">
                <a:ea typeface="+mn-lt"/>
                <a:cs typeface="+mn-lt"/>
              </a:rPr>
              <a:t>índice</a:t>
            </a:r>
            <a:r>
              <a:rPr lang="en-US" dirty="0">
                <a:ea typeface="+mn-lt"/>
                <a:cs typeface="+mn-lt"/>
              </a:rPr>
              <a:t> de 1.6 es </a:t>
            </a:r>
            <a:r>
              <a:rPr lang="en-US" dirty="0" err="1">
                <a:ea typeface="+mn-lt"/>
                <a:cs typeface="+mn-lt"/>
              </a:rPr>
              <a:t>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mejor</a:t>
            </a:r>
            <a:r>
              <a:rPr lang="en-US" dirty="0">
                <a:ea typeface="+mn-lt"/>
                <a:cs typeface="+mn-lt"/>
              </a:rPr>
              <a:t> y </a:t>
            </a:r>
            <a:r>
              <a:rPr lang="en-US" dirty="0" err="1">
                <a:ea typeface="+mn-lt"/>
                <a:cs typeface="+mn-lt"/>
              </a:rPr>
              <a:t>más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confinado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propaga</a:t>
            </a:r>
            <a:r>
              <a:rPr lang="en-US" dirty="0">
                <a:ea typeface="+mn-lt"/>
                <a:cs typeface="+mn-lt"/>
              </a:rPr>
              <a:t>. El modo TM0, con un </a:t>
            </a:r>
            <a:r>
              <a:rPr lang="en-US" dirty="0" err="1">
                <a:ea typeface="+mn-lt"/>
                <a:cs typeface="+mn-lt"/>
              </a:rPr>
              <a:t>índice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más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cercano</a:t>
            </a:r>
            <a:r>
              <a:rPr lang="en-US" dirty="0">
                <a:ea typeface="+mn-lt"/>
                <a:cs typeface="+mn-lt"/>
              </a:rPr>
              <a:t> al del cladding </a:t>
            </a:r>
            <a:r>
              <a:rPr lang="en-US" dirty="0" err="1">
                <a:ea typeface="+mn-lt"/>
                <a:cs typeface="+mn-lt"/>
              </a:rPr>
              <a:t>empieza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relacionarse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más</a:t>
            </a:r>
            <a:r>
              <a:rPr lang="en-US" dirty="0">
                <a:ea typeface="+mn-lt"/>
                <a:cs typeface="+mn-lt"/>
              </a:rPr>
              <a:t> con la </a:t>
            </a:r>
            <a:r>
              <a:rPr lang="en-US" dirty="0" err="1">
                <a:ea typeface="+mn-lt"/>
                <a:cs typeface="+mn-lt"/>
              </a:rPr>
              <a:t>cubierta</a:t>
            </a:r>
            <a:r>
              <a:rPr lang="en-US" dirty="0">
                <a:ea typeface="+mn-lt"/>
                <a:cs typeface="+mn-lt"/>
              </a:rPr>
              <a:t>. Pero ambos, al </a:t>
            </a:r>
            <a:r>
              <a:rPr lang="en-US" dirty="0" err="1">
                <a:ea typeface="+mn-lt"/>
                <a:cs typeface="+mn-lt"/>
              </a:rPr>
              <a:t>tener</a:t>
            </a:r>
            <a:r>
              <a:rPr lang="en-US" dirty="0">
                <a:ea typeface="+mn-lt"/>
                <a:cs typeface="+mn-lt"/>
              </a:rPr>
              <a:t> un </a:t>
            </a:r>
            <a:r>
              <a:rPr lang="en-US" dirty="0" err="1">
                <a:ea typeface="+mn-lt"/>
                <a:cs typeface="+mn-lt"/>
              </a:rPr>
              <a:t>índice</a:t>
            </a:r>
            <a:r>
              <a:rPr lang="en-US" dirty="0">
                <a:ea typeface="+mn-lt"/>
                <a:cs typeface="+mn-lt"/>
              </a:rPr>
              <a:t> entre </a:t>
            </a:r>
            <a:r>
              <a:rPr lang="en-US" dirty="0" err="1">
                <a:ea typeface="+mn-lt"/>
                <a:cs typeface="+mn-lt"/>
              </a:rPr>
              <a:t>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núcleo</a:t>
            </a:r>
            <a:r>
              <a:rPr lang="en-US" dirty="0">
                <a:ea typeface="+mn-lt"/>
                <a:cs typeface="+mn-lt"/>
              </a:rPr>
              <a:t> y la </a:t>
            </a:r>
            <a:r>
              <a:rPr lang="en-US" dirty="0" err="1">
                <a:ea typeface="+mn-lt"/>
                <a:cs typeface="+mn-lt"/>
              </a:rPr>
              <a:t>cubierta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propagan</a:t>
            </a:r>
            <a:r>
              <a:rPr lang="en-US" dirty="0">
                <a:ea typeface="+mn-lt"/>
                <a:cs typeface="+mn-lt"/>
              </a:rPr>
              <a:t>. </a:t>
            </a:r>
            <a:br>
              <a:rPr lang="en-US" dirty="0">
                <a:ea typeface="+mn-lt"/>
                <a:cs typeface="+mn-lt"/>
              </a:rPr>
            </a:b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Por </a:t>
            </a:r>
            <a:r>
              <a:rPr lang="en-US" dirty="0" err="1">
                <a:ea typeface="+mn-lt"/>
                <a:cs typeface="+mn-lt"/>
              </a:rPr>
              <a:t>último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los</a:t>
            </a:r>
            <a:r>
              <a:rPr lang="en-US" dirty="0">
                <a:ea typeface="+mn-lt"/>
                <a:cs typeface="+mn-lt"/>
              </a:rPr>
              <a:t> dos </a:t>
            </a:r>
            <a:r>
              <a:rPr lang="en-US" dirty="0" err="1">
                <a:ea typeface="+mn-lt"/>
                <a:cs typeface="+mn-lt"/>
              </a:rPr>
              <a:t>siguientes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modos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orden</a:t>
            </a:r>
            <a:r>
              <a:rPr lang="en-US" dirty="0">
                <a:ea typeface="+mn-lt"/>
                <a:cs typeface="+mn-lt"/>
              </a:rPr>
              <a:t> superior </a:t>
            </a:r>
            <a:r>
              <a:rPr lang="en-US" dirty="0" err="1">
                <a:ea typeface="+mn-lt"/>
                <a:cs typeface="+mn-lt"/>
              </a:rPr>
              <a:t>que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hemos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calculado</a:t>
            </a:r>
            <a:r>
              <a:rPr lang="en-US" dirty="0">
                <a:ea typeface="+mn-lt"/>
                <a:cs typeface="+mn-lt"/>
              </a:rPr>
              <a:t> no </a:t>
            </a:r>
            <a:r>
              <a:rPr lang="en-US" dirty="0" err="1">
                <a:ea typeface="+mn-lt"/>
                <a:cs typeface="+mn-lt"/>
              </a:rPr>
              <a:t>existen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debido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que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índices</a:t>
            </a:r>
            <a:r>
              <a:rPr lang="en-US" dirty="0">
                <a:ea typeface="+mn-lt"/>
                <a:cs typeface="+mn-lt"/>
              </a:rPr>
              <a:t> son </a:t>
            </a:r>
            <a:r>
              <a:rPr lang="en-US" dirty="0" err="1">
                <a:ea typeface="+mn-lt"/>
                <a:cs typeface="+mn-lt"/>
              </a:rPr>
              <a:t>menores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</a:t>
            </a:r>
            <a:r>
              <a:rPr lang="en-US" dirty="0">
                <a:ea typeface="+mn-lt"/>
                <a:cs typeface="+mn-lt"/>
              </a:rPr>
              <a:t> de la </a:t>
            </a:r>
            <a:r>
              <a:rPr lang="en-US" dirty="0" err="1">
                <a:ea typeface="+mn-lt"/>
                <a:cs typeface="+mn-lt"/>
              </a:rPr>
              <a:t>cubierta</a:t>
            </a:r>
            <a:r>
              <a:rPr lang="en-US" dirty="0">
                <a:ea typeface="+mn-lt"/>
                <a:cs typeface="+mn-lt"/>
              </a:rPr>
              <a:t> (SiO2) y sus </a:t>
            </a:r>
            <a:r>
              <a:rPr lang="en-US" dirty="0" err="1">
                <a:ea typeface="+mn-lt"/>
                <a:cs typeface="+mn-lt"/>
              </a:rPr>
              <a:t>polarizaciones</a:t>
            </a:r>
            <a:r>
              <a:rPr lang="en-US" dirty="0">
                <a:ea typeface="+mn-lt"/>
                <a:cs typeface="+mn-lt"/>
              </a:rPr>
              <a:t> no son </a:t>
            </a:r>
            <a:r>
              <a:rPr lang="en-US" dirty="0" err="1">
                <a:ea typeface="+mn-lt"/>
                <a:cs typeface="+mn-lt"/>
              </a:rPr>
              <a:t>relevantes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+mn-lt"/>
                <a:cs typeface="+mn-lt"/>
              </a:rPr>
              <a:t>En </a:t>
            </a:r>
            <a:r>
              <a:rPr lang="en-US" dirty="0" err="1">
                <a:ea typeface="+mn-lt"/>
                <a:cs typeface="+mn-lt"/>
              </a:rPr>
              <a:t>estas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gráficas</a:t>
            </a:r>
            <a:r>
              <a:rPr lang="en-US" dirty="0">
                <a:ea typeface="+mn-lt"/>
                <a:cs typeface="+mn-lt"/>
              </a:rPr>
              <a:t> se </a:t>
            </a:r>
            <a:r>
              <a:rPr lang="en-US" dirty="0" err="1">
                <a:ea typeface="+mn-lt"/>
                <a:cs typeface="+mn-lt"/>
              </a:rPr>
              <a:t>observan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manera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muy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clara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confinamiento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los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nodos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función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su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índice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efectivo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Desde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el</a:t>
            </a:r>
            <a:r>
              <a:rPr lang="en-US" dirty="0">
                <a:ea typeface="Calibri"/>
                <a:cs typeface="Calibri"/>
              </a:rPr>
              <a:t> punto de vista de la </a:t>
            </a:r>
            <a:r>
              <a:rPr lang="en-US" dirty="0" err="1">
                <a:ea typeface="Calibri"/>
                <a:cs typeface="Calibri"/>
              </a:rPr>
              <a:t>polarización</a:t>
            </a:r>
            <a:r>
              <a:rPr lang="en-US" dirty="0">
                <a:ea typeface="Calibri"/>
                <a:cs typeface="Calibri"/>
              </a:rPr>
              <a:t>, TE0 es </a:t>
            </a:r>
            <a:r>
              <a:rPr lang="en-US" dirty="0" err="1">
                <a:ea typeface="Calibri"/>
                <a:cs typeface="Calibri"/>
              </a:rPr>
              <a:t>el</a:t>
            </a:r>
            <a:r>
              <a:rPr lang="en-US" dirty="0">
                <a:ea typeface="Calibri"/>
                <a:cs typeface="Calibri"/>
              </a:rPr>
              <a:t> primer modo </a:t>
            </a:r>
            <a:r>
              <a:rPr lang="en-US" dirty="0" err="1">
                <a:ea typeface="Calibri"/>
                <a:cs typeface="Calibri"/>
              </a:rPr>
              <a:t>ya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que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el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fraction_te</a:t>
            </a:r>
            <a:r>
              <a:rPr lang="en-US" dirty="0">
                <a:ea typeface="Calibri"/>
                <a:cs typeface="Calibri"/>
              </a:rPr>
              <a:t> es </a:t>
            </a:r>
            <a:r>
              <a:rPr lang="en-US" dirty="0" err="1">
                <a:ea typeface="Calibri"/>
                <a:cs typeface="Calibri"/>
              </a:rPr>
              <a:t>próximo</a:t>
            </a:r>
            <a:r>
              <a:rPr lang="en-US" dirty="0">
                <a:ea typeface="Calibri"/>
                <a:cs typeface="Calibri"/>
              </a:rPr>
              <a:t> a 1. El </a:t>
            </a:r>
            <a:r>
              <a:rPr lang="en-US" dirty="0" err="1">
                <a:ea typeface="Calibri"/>
                <a:cs typeface="Calibri"/>
              </a:rPr>
              <a:t>segundo</a:t>
            </a:r>
            <a:r>
              <a:rPr lang="en-US" dirty="0">
                <a:ea typeface="Calibri"/>
                <a:cs typeface="Calibri"/>
              </a:rPr>
              <a:t> es </a:t>
            </a:r>
            <a:r>
              <a:rPr lang="en-US" dirty="0" err="1">
                <a:ea typeface="Calibri"/>
                <a:cs typeface="Calibri"/>
              </a:rPr>
              <a:t>el</a:t>
            </a:r>
            <a:r>
              <a:rPr lang="en-US" dirty="0">
                <a:ea typeface="Calibri"/>
                <a:cs typeface="Calibri"/>
              </a:rPr>
              <a:t> TM0. El modo TE0 </a:t>
            </a:r>
            <a:r>
              <a:rPr lang="en-US" dirty="0" err="1">
                <a:ea typeface="Calibri"/>
                <a:cs typeface="Calibri"/>
              </a:rPr>
              <a:t>representa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discontinuidades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en</a:t>
            </a:r>
            <a:r>
              <a:rPr lang="en-US" dirty="0">
                <a:ea typeface="Calibri"/>
                <a:cs typeface="Calibri"/>
              </a:rPr>
              <a:t> la horizontal </a:t>
            </a:r>
            <a:r>
              <a:rPr lang="en-US" dirty="0" err="1">
                <a:ea typeface="Calibri"/>
                <a:cs typeface="Calibri"/>
              </a:rPr>
              <a:t>debido</a:t>
            </a:r>
            <a:r>
              <a:rPr lang="en-US" dirty="0">
                <a:ea typeface="Calibri"/>
                <a:cs typeface="Calibri"/>
              </a:rPr>
              <a:t> al </a:t>
            </a:r>
            <a:r>
              <a:rPr lang="en-US" dirty="0" err="1">
                <a:ea typeface="Calibri"/>
                <a:cs typeface="Calibri"/>
              </a:rPr>
              <a:t>salto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índice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en</a:t>
            </a:r>
            <a:r>
              <a:rPr lang="en-US" dirty="0">
                <a:ea typeface="Calibri"/>
                <a:cs typeface="Calibri"/>
              </a:rPr>
              <a:t> las </a:t>
            </a:r>
            <a:r>
              <a:rPr lang="en-US" dirty="0" err="1">
                <a:ea typeface="Calibri"/>
                <a:cs typeface="Calibri"/>
              </a:rPr>
              <a:t>paredes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laterales</a:t>
            </a:r>
            <a:r>
              <a:rPr lang="en-US" dirty="0">
                <a:ea typeface="Calibri"/>
                <a:cs typeface="Calibri"/>
              </a:rPr>
              <a:t> del </a:t>
            </a:r>
            <a:r>
              <a:rPr lang="en-US" dirty="0" err="1">
                <a:ea typeface="Calibri"/>
                <a:cs typeface="Calibri"/>
              </a:rPr>
              <a:t>núcleo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mientras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que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el</a:t>
            </a:r>
            <a:r>
              <a:rPr lang="en-US" dirty="0">
                <a:ea typeface="Calibri"/>
                <a:cs typeface="Calibri"/>
              </a:rPr>
              <a:t> TM0 </a:t>
            </a:r>
            <a:r>
              <a:rPr lang="en-US" dirty="0" err="1">
                <a:ea typeface="Calibri"/>
                <a:cs typeface="Calibri"/>
              </a:rPr>
              <a:t>tiene</a:t>
            </a:r>
            <a:r>
              <a:rPr lang="en-US" dirty="0">
                <a:ea typeface="Calibri"/>
                <a:cs typeface="Calibri"/>
              </a:rPr>
              <a:t> las </a:t>
            </a:r>
            <a:r>
              <a:rPr lang="en-US" dirty="0" err="1">
                <a:ea typeface="Calibri"/>
                <a:cs typeface="Calibri"/>
              </a:rPr>
              <a:t>discontinuidades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en</a:t>
            </a:r>
            <a:r>
              <a:rPr lang="en-US" dirty="0">
                <a:ea typeface="Calibri"/>
                <a:cs typeface="Calibri"/>
              </a:rPr>
              <a:t> la vertical.</a:t>
            </a:r>
          </a:p>
          <a:p>
            <a:pPr algn="just"/>
            <a:endParaRPr lang="en-US" sz="14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4344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656EC-E197-239C-60DD-C11F7BA4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431EA70-9578-8BF1-5A05-77CDC2678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Wavelength behavior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Wavelength 1.5-1.6 µm (step 0.01 µm) – width 1.2 µm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6A02C28-9CC3-6E88-B695-04A48E5FDE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B7F118F-AD79-0ED0-CE53-A8EE4409B4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9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846C9D-3FE3-8524-3349-96E1AD1712B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A5F0FDF-2A95-453B-4ECA-AEB637FF2694}"/>
              </a:ext>
            </a:extLst>
          </p:cNvPr>
          <p:cNvSpPr txBox="1"/>
          <p:nvPr/>
        </p:nvSpPr>
        <p:spPr>
          <a:xfrm>
            <a:off x="660927" y="4860334"/>
            <a:ext cx="11138188" cy="135421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400" dirty="0">
                <a:latin typeface="Calibri"/>
                <a:ea typeface="+mn-lt"/>
                <a:cs typeface="Calibri"/>
              </a:rPr>
              <a:t>En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este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apartado</a:t>
            </a:r>
            <a:r>
              <a:rPr lang="en-US" sz="1400" dirty="0">
                <a:latin typeface="Calibri"/>
                <a:ea typeface="+mn-lt"/>
                <a:cs typeface="Calibri"/>
              </a:rPr>
              <a:t> hemos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comparado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cómo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varía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el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índice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efectivo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según</a:t>
            </a:r>
            <a:r>
              <a:rPr lang="en-US" sz="1400" dirty="0">
                <a:latin typeface="Calibri"/>
                <a:ea typeface="+mn-lt"/>
                <a:cs typeface="Calibri"/>
              </a:rPr>
              <a:t> la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longitud</a:t>
            </a:r>
            <a:r>
              <a:rPr lang="en-US" sz="1400" dirty="0">
                <a:latin typeface="Calibri"/>
                <a:ea typeface="+mn-lt"/>
                <a:cs typeface="Calibri"/>
              </a:rPr>
              <a:t> de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onda</a:t>
            </a:r>
            <a:r>
              <a:rPr lang="en-US" sz="1400" dirty="0">
                <a:latin typeface="Calibri"/>
                <a:ea typeface="+mn-lt"/>
                <a:cs typeface="Calibri"/>
              </a:rPr>
              <a:t> para dos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tipos</a:t>
            </a:r>
            <a:r>
              <a:rPr lang="en-US" sz="1400" dirty="0">
                <a:latin typeface="Calibri"/>
                <a:ea typeface="+mn-lt"/>
                <a:cs typeface="Calibri"/>
              </a:rPr>
              <a:t> de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guías</a:t>
            </a:r>
            <a:r>
              <a:rPr lang="en-US" sz="1400" dirty="0">
                <a:latin typeface="Calibri"/>
                <a:ea typeface="+mn-lt"/>
                <a:cs typeface="Calibri"/>
              </a:rPr>
              <a:t>: la Deep (sin slab) y la Shallow (con un slab de 150 nm). En ambos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casos</a:t>
            </a:r>
            <a:r>
              <a:rPr lang="en-US" sz="1400" dirty="0">
                <a:latin typeface="Calibri"/>
                <a:ea typeface="+mn-lt"/>
                <a:cs typeface="Calibri"/>
              </a:rPr>
              <a:t>,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el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neff</a:t>
            </a:r>
            <a:r>
              <a:rPr lang="en-US" sz="1400" dirty="0">
                <a:latin typeface="Calibri"/>
                <a:ea typeface="+mn-lt"/>
                <a:cs typeface="Calibri"/>
              </a:rPr>
              <a:t>  baja al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aumentar</a:t>
            </a:r>
            <a:r>
              <a:rPr lang="en-US" sz="1400" dirty="0">
                <a:latin typeface="Calibri"/>
                <a:ea typeface="+mn-lt"/>
                <a:cs typeface="Calibri"/>
              </a:rPr>
              <a:t> la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longitud</a:t>
            </a:r>
            <a:r>
              <a:rPr lang="en-US" sz="1400" dirty="0">
                <a:latin typeface="Calibri"/>
                <a:ea typeface="+mn-lt"/>
                <a:cs typeface="Calibri"/>
              </a:rPr>
              <a:t> de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onda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porque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el</a:t>
            </a:r>
            <a:r>
              <a:rPr lang="en-US" sz="1400" dirty="0">
                <a:latin typeface="Calibri"/>
                <a:ea typeface="+mn-lt"/>
                <a:cs typeface="Calibri"/>
              </a:rPr>
              <a:t> modo se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confina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menos</a:t>
            </a:r>
            <a:r>
              <a:rPr lang="en-US" sz="1400" dirty="0">
                <a:latin typeface="Calibri"/>
                <a:ea typeface="+mn-lt"/>
                <a:cs typeface="Calibri"/>
              </a:rPr>
              <a:t> y '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toca</a:t>
            </a:r>
            <a:r>
              <a:rPr lang="en-US" sz="1400" dirty="0">
                <a:latin typeface="Calibri"/>
                <a:ea typeface="+mn-lt"/>
                <a:cs typeface="Calibri"/>
              </a:rPr>
              <a:t>'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más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el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óxido</a:t>
            </a:r>
            <a:r>
              <a:rPr lang="en-US" sz="1400" dirty="0">
                <a:latin typeface="Calibri"/>
                <a:ea typeface="+mn-lt"/>
                <a:cs typeface="Calibri"/>
              </a:rPr>
              <a:t> de la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cubierta</a:t>
            </a:r>
            <a:r>
              <a:rPr lang="en-US" sz="1400" dirty="0">
                <a:latin typeface="Calibri"/>
                <a:ea typeface="+mn-lt"/>
                <a:cs typeface="Calibri"/>
              </a:rPr>
              <a:t>. Lo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más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interesante</a:t>
            </a:r>
            <a:r>
              <a:rPr lang="en-US" sz="1400" dirty="0">
                <a:latin typeface="Calibri"/>
                <a:ea typeface="+mn-lt"/>
                <a:cs typeface="Calibri"/>
              </a:rPr>
              <a:t> es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que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en</a:t>
            </a:r>
            <a:r>
              <a:rPr lang="en-US" sz="1400" dirty="0">
                <a:latin typeface="Calibri"/>
                <a:ea typeface="+mn-lt"/>
                <a:cs typeface="Calibri"/>
              </a:rPr>
              <a:t> la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guía</a:t>
            </a:r>
            <a:r>
              <a:rPr lang="en-US" sz="1400" dirty="0">
                <a:latin typeface="Calibri"/>
                <a:ea typeface="+mn-lt"/>
                <a:cs typeface="Calibri"/>
              </a:rPr>
              <a:t> Deep solo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los</a:t>
            </a:r>
            <a:r>
              <a:rPr lang="en-US" sz="1400" dirty="0">
                <a:latin typeface="Calibri"/>
                <a:ea typeface="+mn-lt"/>
                <a:cs typeface="Calibri"/>
              </a:rPr>
              <a:t> dos primeros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modos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están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guiados</a:t>
            </a:r>
            <a:r>
              <a:rPr lang="en-US" sz="1400" dirty="0">
                <a:latin typeface="Calibri"/>
                <a:ea typeface="+mn-lt"/>
                <a:cs typeface="Calibri"/>
              </a:rPr>
              <a:t>,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mientras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que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en</a:t>
            </a:r>
            <a:r>
              <a:rPr lang="en-US" sz="1400" dirty="0">
                <a:latin typeface="Calibri"/>
                <a:ea typeface="+mn-lt"/>
                <a:cs typeface="Calibri"/>
              </a:rPr>
              <a:t> la Shallow, al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añadir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esa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capa</a:t>
            </a:r>
            <a:r>
              <a:rPr lang="en-US" sz="1400" dirty="0">
                <a:latin typeface="Calibri"/>
                <a:ea typeface="+mn-lt"/>
                <a:cs typeface="Calibri"/>
              </a:rPr>
              <a:t> de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silicio</a:t>
            </a:r>
            <a:r>
              <a:rPr lang="en-US" sz="1400" dirty="0">
                <a:latin typeface="Calibri"/>
                <a:ea typeface="+mn-lt"/>
                <a:cs typeface="Calibri"/>
              </a:rPr>
              <a:t> extra (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el</a:t>
            </a:r>
            <a:r>
              <a:rPr lang="en-US" sz="1400" dirty="0">
                <a:latin typeface="Calibri"/>
                <a:ea typeface="+mn-lt"/>
                <a:cs typeface="Calibri"/>
              </a:rPr>
              <a:t> slab),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los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valores</a:t>
            </a:r>
            <a:r>
              <a:rPr lang="en-US" sz="1400" dirty="0">
                <a:latin typeface="Calibri"/>
                <a:ea typeface="+mn-lt"/>
                <a:cs typeface="Calibri"/>
              </a:rPr>
              <a:t> de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neff</a:t>
            </a:r>
            <a:r>
              <a:rPr lang="en-US" sz="1400" dirty="0">
                <a:latin typeface="Calibri"/>
                <a:ea typeface="+mn-lt"/>
                <a:cs typeface="Calibri"/>
              </a:rPr>
              <a:t> 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suben</a:t>
            </a:r>
            <a:r>
              <a:rPr lang="en-US" sz="1400" dirty="0">
                <a:latin typeface="Calibri"/>
                <a:ea typeface="+mn-lt"/>
                <a:cs typeface="Calibri"/>
              </a:rPr>
              <a:t> y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todos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los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modos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quedan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por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encima</a:t>
            </a:r>
            <a:r>
              <a:rPr lang="en-US" sz="1400" dirty="0">
                <a:latin typeface="Calibri"/>
                <a:ea typeface="+mn-lt"/>
                <a:cs typeface="Calibri"/>
              </a:rPr>
              <a:t> del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índice</a:t>
            </a:r>
            <a:r>
              <a:rPr lang="en-US" sz="1400" dirty="0">
                <a:latin typeface="Calibri"/>
                <a:ea typeface="+mn-lt"/>
                <a:cs typeface="Calibri"/>
              </a:rPr>
              <a:t> del cladding. Esto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demuestra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que</a:t>
            </a:r>
            <a:r>
              <a:rPr lang="en-US" sz="1400" dirty="0">
                <a:latin typeface="Calibri"/>
                <a:ea typeface="+mn-lt"/>
                <a:cs typeface="Calibri"/>
              </a:rPr>
              <a:t> la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guía</a:t>
            </a:r>
            <a:r>
              <a:rPr lang="en-US" sz="1400" dirty="0">
                <a:latin typeface="Calibri"/>
                <a:ea typeface="+mn-lt"/>
                <a:cs typeface="Calibri"/>
              </a:rPr>
              <a:t> Shallow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confina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mucho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mejor</a:t>
            </a:r>
            <a:r>
              <a:rPr lang="en-US" sz="1400" dirty="0">
                <a:latin typeface="Calibri"/>
                <a:ea typeface="+mn-lt"/>
                <a:cs typeface="Calibri"/>
              </a:rPr>
              <a:t> la luz y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permite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que</a:t>
            </a:r>
            <a:r>
              <a:rPr lang="en-US" sz="1400" dirty="0">
                <a:latin typeface="Calibri"/>
                <a:ea typeface="+mn-lt"/>
                <a:cs typeface="Calibri"/>
              </a:rPr>
              <a:t> se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propaguen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más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modos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que</a:t>
            </a:r>
            <a:r>
              <a:rPr lang="en-US" sz="1400" dirty="0">
                <a:latin typeface="Calibri"/>
                <a:ea typeface="+mn-lt"/>
                <a:cs typeface="Calibri"/>
              </a:rPr>
              <a:t> la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guía</a:t>
            </a:r>
            <a:r>
              <a:rPr lang="en-US" sz="1400" dirty="0">
                <a:latin typeface="Calibri"/>
                <a:ea typeface="+mn-lt"/>
                <a:cs typeface="Calibri"/>
              </a:rPr>
              <a:t> Deep,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que</a:t>
            </a:r>
            <a:r>
              <a:rPr lang="en-US" sz="1400" dirty="0">
                <a:latin typeface="Calibri"/>
                <a:ea typeface="+mn-lt"/>
                <a:cs typeface="Calibri"/>
              </a:rPr>
              <a:t> es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más</a:t>
            </a:r>
            <a:r>
              <a:rPr lang="en-US" sz="1400" dirty="0">
                <a:latin typeface="Calibri"/>
                <a:ea typeface="+mn-lt"/>
                <a:cs typeface="Calibri"/>
              </a:rPr>
              <a:t> </a:t>
            </a:r>
            <a:r>
              <a:rPr lang="en-US" sz="1400" dirty="0" err="1">
                <a:latin typeface="Calibri"/>
                <a:ea typeface="+mn-lt"/>
                <a:cs typeface="Calibri"/>
              </a:rPr>
              <a:t>restrictiva</a:t>
            </a:r>
            <a:r>
              <a:rPr lang="en-US" sz="1400" dirty="0">
                <a:latin typeface="Calibri"/>
                <a:ea typeface="+mn-lt"/>
                <a:cs typeface="Calibri"/>
              </a:rPr>
              <a:t>.</a:t>
            </a:r>
            <a:endParaRPr lang="es-ES" sz="1400">
              <a:latin typeface="Calibri"/>
              <a:ea typeface="Calibri"/>
              <a:cs typeface="Calibri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8F19863-7091-B8CA-F848-DBEA5CEEA027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1F754A5-65BC-14A3-5F55-75716FFA9027}"/>
              </a:ext>
            </a:extLst>
          </p:cNvPr>
          <p:cNvSpPr/>
          <p:nvPr/>
        </p:nvSpPr>
        <p:spPr>
          <a:xfrm>
            <a:off x="64768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7D840DC3-1EE2-9EB1-4738-96A2A8659A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418" y="1620537"/>
            <a:ext cx="5210433" cy="3019681"/>
          </a:xfrm>
          <a:prstGeom prst="rect">
            <a:avLst/>
          </a:prstGeom>
        </p:spPr>
      </p:pic>
      <p:pic>
        <p:nvPicPr>
          <p:cNvPr id="10" name="Imagen 9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499E4D43-DC41-27C6-AA75-4EEE45921F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473" y="1723509"/>
            <a:ext cx="5210432" cy="291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356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AC3D-36B7-D786-3825-B4DD6EAD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6AA2E789-F7AE-F068-274C-E0F13A22DB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#3 – Width dependence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Width 0.6 - 1.6 µm (step 0.1 µm) – Wavelength 1.55 µm 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3AEAD01B-7604-8009-5694-A556497AEF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696E3846-1BD2-4F23-48AA-C7AF2A1EE6E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10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32C0E2B-75B6-4768-A4C7-F165A264DA0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2A62DD6-5488-72A1-9926-0CAEE59089A9}"/>
              </a:ext>
            </a:extLst>
          </p:cNvPr>
          <p:cNvSpPr txBox="1"/>
          <p:nvPr/>
        </p:nvSpPr>
        <p:spPr>
          <a:xfrm>
            <a:off x="609441" y="4901292"/>
            <a:ext cx="11199971" cy="1384995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400" dirty="0">
                <a:ea typeface="+mn-lt"/>
                <a:cs typeface="+mn-lt"/>
              </a:rPr>
              <a:t>En </a:t>
            </a:r>
            <a:r>
              <a:rPr lang="en-US" sz="1400" dirty="0" err="1">
                <a:ea typeface="+mn-lt"/>
                <a:cs typeface="+mn-lt"/>
              </a:rPr>
              <a:t>esta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parte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hemos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comprobado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cómo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influye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ancho de la </a:t>
            </a:r>
            <a:r>
              <a:rPr lang="en-US" sz="1400" dirty="0" err="1">
                <a:ea typeface="+mn-lt"/>
                <a:cs typeface="+mn-lt"/>
              </a:rPr>
              <a:t>guía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índice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efectivo</a:t>
            </a:r>
            <a:r>
              <a:rPr lang="en-US" sz="1400" dirty="0">
                <a:ea typeface="+mn-lt"/>
                <a:cs typeface="+mn-lt"/>
              </a:rPr>
              <a:t>. Como se </a:t>
            </a:r>
            <a:r>
              <a:rPr lang="en-US" sz="1400" dirty="0" err="1">
                <a:ea typeface="+mn-lt"/>
                <a:cs typeface="+mn-lt"/>
              </a:rPr>
              <a:t>ve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las </a:t>
            </a:r>
            <a:r>
              <a:rPr lang="en-US" sz="1400" dirty="0" err="1">
                <a:ea typeface="+mn-lt"/>
                <a:cs typeface="+mn-lt"/>
              </a:rPr>
              <a:t>gráficas</a:t>
            </a:r>
            <a:r>
              <a:rPr lang="en-US" sz="1400" dirty="0">
                <a:ea typeface="+mn-lt"/>
                <a:cs typeface="+mn-lt"/>
              </a:rPr>
              <a:t>, al </a:t>
            </a:r>
            <a:r>
              <a:rPr lang="en-US" sz="1400" dirty="0" err="1">
                <a:ea typeface="+mn-lt"/>
                <a:cs typeface="+mn-lt"/>
              </a:rPr>
              <a:t>ensanchar</a:t>
            </a:r>
            <a:r>
              <a:rPr lang="en-US" sz="1400" dirty="0">
                <a:ea typeface="+mn-lt"/>
                <a:cs typeface="+mn-lt"/>
              </a:rPr>
              <a:t> la </a:t>
            </a:r>
            <a:r>
              <a:rPr lang="en-US" sz="1400" dirty="0" err="1">
                <a:ea typeface="+mn-lt"/>
                <a:cs typeface="+mn-lt"/>
              </a:rPr>
              <a:t>guía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neff</a:t>
            </a:r>
            <a:r>
              <a:rPr lang="en-US" sz="1400" dirty="0">
                <a:ea typeface="+mn-lt"/>
                <a:cs typeface="+mn-lt"/>
              </a:rPr>
              <a:t>  de </a:t>
            </a:r>
            <a:r>
              <a:rPr lang="en-US" sz="1400" dirty="0" err="1">
                <a:ea typeface="+mn-lt"/>
                <a:cs typeface="+mn-lt"/>
              </a:rPr>
              <a:t>todos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los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modos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sube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acercándose</a:t>
            </a:r>
            <a:r>
              <a:rPr lang="en-US" sz="1400" dirty="0">
                <a:ea typeface="+mn-lt"/>
                <a:cs typeface="+mn-lt"/>
              </a:rPr>
              <a:t> al </a:t>
            </a:r>
            <a:r>
              <a:rPr lang="en-US" sz="1400" dirty="0" err="1">
                <a:ea typeface="+mn-lt"/>
                <a:cs typeface="+mn-lt"/>
              </a:rPr>
              <a:t>índice</a:t>
            </a:r>
            <a:r>
              <a:rPr lang="en-US" sz="1400" dirty="0">
                <a:ea typeface="+mn-lt"/>
                <a:cs typeface="+mn-lt"/>
              </a:rPr>
              <a:t> del </a:t>
            </a:r>
            <a:r>
              <a:rPr lang="en-US" sz="1400" dirty="0" err="1">
                <a:ea typeface="+mn-lt"/>
                <a:cs typeface="+mn-lt"/>
              </a:rPr>
              <a:t>nitruro</a:t>
            </a:r>
            <a:r>
              <a:rPr lang="en-US" sz="1400" dirty="0">
                <a:ea typeface="+mn-lt"/>
                <a:cs typeface="+mn-lt"/>
              </a:rPr>
              <a:t> (n ≈ 2). Esto </a:t>
            </a:r>
            <a:r>
              <a:rPr lang="en-US" sz="1400" dirty="0" err="1">
                <a:ea typeface="+mn-lt"/>
                <a:cs typeface="+mn-lt"/>
              </a:rPr>
              <a:t>tiene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sentido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porque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cuanto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más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ancha</a:t>
            </a:r>
            <a:r>
              <a:rPr lang="en-US" sz="1400" dirty="0">
                <a:ea typeface="+mn-lt"/>
                <a:cs typeface="+mn-lt"/>
              </a:rPr>
              <a:t> es la </a:t>
            </a:r>
            <a:r>
              <a:rPr lang="en-US" sz="1400" dirty="0" err="1">
                <a:ea typeface="+mn-lt"/>
                <a:cs typeface="+mn-lt"/>
              </a:rPr>
              <a:t>guía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mejor</a:t>
            </a:r>
            <a:r>
              <a:rPr lang="en-US" sz="1400" dirty="0">
                <a:ea typeface="+mn-lt"/>
                <a:cs typeface="+mn-lt"/>
              </a:rPr>
              <a:t> se </a:t>
            </a:r>
            <a:r>
              <a:rPr lang="en-US" sz="1400" dirty="0" err="1">
                <a:ea typeface="+mn-lt"/>
                <a:cs typeface="+mn-lt"/>
              </a:rPr>
              <a:t>queda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atrapada</a:t>
            </a:r>
            <a:r>
              <a:rPr lang="en-US" sz="1400" dirty="0">
                <a:ea typeface="+mn-lt"/>
                <a:cs typeface="+mn-lt"/>
              </a:rPr>
              <a:t> la luz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núcleo</a:t>
            </a:r>
            <a:r>
              <a:rPr lang="en-US" sz="1400" dirty="0">
                <a:ea typeface="+mn-lt"/>
                <a:cs typeface="+mn-lt"/>
              </a:rPr>
              <a:t> y </a:t>
            </a:r>
            <a:r>
              <a:rPr lang="en-US" sz="1400" dirty="0" err="1">
                <a:ea typeface="+mn-lt"/>
                <a:cs typeface="+mn-lt"/>
              </a:rPr>
              <a:t>menos</a:t>
            </a:r>
            <a:r>
              <a:rPr lang="en-US" sz="1400" dirty="0">
                <a:ea typeface="+mn-lt"/>
                <a:cs typeface="+mn-lt"/>
              </a:rPr>
              <a:t> '</a:t>
            </a:r>
            <a:r>
              <a:rPr lang="en-US" sz="1400" dirty="0" err="1">
                <a:ea typeface="+mn-lt"/>
                <a:cs typeface="+mn-lt"/>
              </a:rPr>
              <a:t>toca</a:t>
            </a:r>
            <a:r>
              <a:rPr lang="en-US" sz="1400" dirty="0">
                <a:ea typeface="+mn-lt"/>
                <a:cs typeface="+mn-lt"/>
              </a:rPr>
              <a:t>'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revestimiento</a:t>
            </a:r>
            <a:r>
              <a:rPr lang="en-US" sz="1400" dirty="0">
                <a:ea typeface="+mn-lt"/>
                <a:cs typeface="+mn-lt"/>
              </a:rPr>
              <a:t>. Lo </a:t>
            </a:r>
            <a:r>
              <a:rPr lang="en-US" sz="1400" dirty="0" err="1">
                <a:ea typeface="+mn-lt"/>
                <a:cs typeface="+mn-lt"/>
              </a:rPr>
              <a:t>más</a:t>
            </a:r>
            <a:r>
              <a:rPr lang="en-US" sz="1400" dirty="0">
                <a:ea typeface="+mn-lt"/>
                <a:cs typeface="+mn-lt"/>
              </a:rPr>
              <a:t> curioso es </a:t>
            </a:r>
            <a:r>
              <a:rPr lang="en-US" sz="1400" dirty="0" err="1">
                <a:ea typeface="+mn-lt"/>
                <a:cs typeface="+mn-lt"/>
              </a:rPr>
              <a:t>ver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para </a:t>
            </a:r>
            <a:r>
              <a:rPr lang="en-US" sz="1400" dirty="0" err="1">
                <a:ea typeface="+mn-lt"/>
                <a:cs typeface="+mn-lt"/>
              </a:rPr>
              <a:t>anchos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pequeños</a:t>
            </a:r>
            <a:r>
              <a:rPr lang="en-US" sz="1400" dirty="0">
                <a:ea typeface="+mn-lt"/>
                <a:cs typeface="+mn-lt"/>
              </a:rPr>
              <a:t> hay </a:t>
            </a:r>
            <a:r>
              <a:rPr lang="en-US" sz="1400" dirty="0" err="1">
                <a:ea typeface="+mn-lt"/>
                <a:cs typeface="+mn-lt"/>
              </a:rPr>
              <a:t>modos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casi</a:t>
            </a:r>
            <a:r>
              <a:rPr lang="en-US" sz="1400" dirty="0">
                <a:ea typeface="+mn-lt"/>
                <a:cs typeface="+mn-lt"/>
              </a:rPr>
              <a:t> no </a:t>
            </a:r>
            <a:r>
              <a:rPr lang="en-US" sz="1400" dirty="0" err="1">
                <a:ea typeface="+mn-lt"/>
                <a:cs typeface="+mn-lt"/>
              </a:rPr>
              <a:t>están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guiados</a:t>
            </a:r>
            <a:r>
              <a:rPr lang="en-US" sz="1400" dirty="0">
                <a:ea typeface="+mn-lt"/>
                <a:cs typeface="+mn-lt"/>
              </a:rPr>
              <a:t> (</a:t>
            </a:r>
            <a:r>
              <a:rPr lang="en-US" sz="1400" dirty="0" err="1">
                <a:ea typeface="+mn-lt"/>
                <a:cs typeface="+mn-lt"/>
              </a:rPr>
              <a:t>su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neff</a:t>
            </a:r>
            <a:r>
              <a:rPr lang="en-US" sz="1400" dirty="0">
                <a:ea typeface="+mn-lt"/>
                <a:cs typeface="+mn-lt"/>
              </a:rPr>
              <a:t>  </a:t>
            </a:r>
            <a:r>
              <a:rPr lang="en-US" sz="1400" dirty="0" err="1">
                <a:ea typeface="+mn-lt"/>
                <a:cs typeface="+mn-lt"/>
              </a:rPr>
              <a:t>está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muy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cerca</a:t>
            </a:r>
            <a:r>
              <a:rPr lang="en-US" sz="1400" dirty="0">
                <a:ea typeface="+mn-lt"/>
                <a:cs typeface="+mn-lt"/>
              </a:rPr>
              <a:t> de 1.45), </a:t>
            </a:r>
            <a:r>
              <a:rPr lang="en-US" sz="1400" dirty="0" err="1">
                <a:ea typeface="+mn-lt"/>
                <a:cs typeface="+mn-lt"/>
              </a:rPr>
              <a:t>pero</a:t>
            </a:r>
            <a:r>
              <a:rPr lang="en-US" sz="1400" dirty="0">
                <a:ea typeface="+mn-lt"/>
                <a:cs typeface="+mn-lt"/>
              </a:rPr>
              <a:t> al </a:t>
            </a:r>
            <a:r>
              <a:rPr lang="en-US" sz="1400" dirty="0" err="1">
                <a:ea typeface="+mn-lt"/>
                <a:cs typeface="+mn-lt"/>
              </a:rPr>
              <a:t>aumentar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ancho, </a:t>
            </a:r>
            <a:r>
              <a:rPr lang="en-US" sz="1400" dirty="0" err="1">
                <a:ea typeface="+mn-lt"/>
                <a:cs typeface="+mn-lt"/>
              </a:rPr>
              <a:t>esos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modos</a:t>
            </a:r>
            <a:r>
              <a:rPr lang="en-US" sz="1400" dirty="0">
                <a:ea typeface="+mn-lt"/>
                <a:cs typeface="+mn-lt"/>
              </a:rPr>
              <a:t> se </a:t>
            </a:r>
            <a:r>
              <a:rPr lang="en-US" sz="1400" dirty="0" err="1">
                <a:ea typeface="+mn-lt"/>
                <a:cs typeface="+mn-lt"/>
              </a:rPr>
              <a:t>meten</a:t>
            </a:r>
            <a:r>
              <a:rPr lang="en-US" sz="1400" dirty="0">
                <a:ea typeface="+mn-lt"/>
                <a:cs typeface="+mn-lt"/>
              </a:rPr>
              <a:t> del </a:t>
            </a:r>
            <a:r>
              <a:rPr lang="en-US" sz="1400" dirty="0" err="1">
                <a:ea typeface="+mn-lt"/>
                <a:cs typeface="+mn-lt"/>
              </a:rPr>
              <a:t>todo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la </a:t>
            </a:r>
            <a:r>
              <a:rPr lang="en-US" sz="1400" dirty="0" err="1">
                <a:ea typeface="+mn-lt"/>
                <a:cs typeface="+mn-lt"/>
              </a:rPr>
              <a:t>guía</a:t>
            </a:r>
            <a:r>
              <a:rPr lang="en-US" sz="1400" dirty="0">
                <a:ea typeface="+mn-lt"/>
                <a:cs typeface="+mn-lt"/>
              </a:rPr>
              <a:t> y </a:t>
            </a:r>
            <a:r>
              <a:rPr lang="en-US" sz="1400" dirty="0" err="1">
                <a:ea typeface="+mn-lt"/>
                <a:cs typeface="+mn-lt"/>
              </a:rPr>
              <a:t>empiezan</a:t>
            </a:r>
            <a:r>
              <a:rPr lang="en-US" sz="1400" dirty="0">
                <a:ea typeface="+mn-lt"/>
                <a:cs typeface="+mn-lt"/>
              </a:rPr>
              <a:t> a </a:t>
            </a:r>
            <a:r>
              <a:rPr lang="en-US" sz="1400" dirty="0" err="1">
                <a:ea typeface="+mn-lt"/>
                <a:cs typeface="+mn-lt"/>
              </a:rPr>
              <a:t>propagarse</a:t>
            </a:r>
            <a:r>
              <a:rPr lang="en-US" sz="1400" dirty="0">
                <a:ea typeface="+mn-lt"/>
                <a:cs typeface="+mn-lt"/>
              </a:rPr>
              <a:t> bien. </a:t>
            </a:r>
            <a:r>
              <a:rPr lang="en-US" sz="1400" dirty="0" err="1">
                <a:ea typeface="+mn-lt"/>
                <a:cs typeface="+mn-lt"/>
              </a:rPr>
              <a:t>Además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mirando</a:t>
            </a:r>
            <a:r>
              <a:rPr lang="en-US" sz="1400" dirty="0">
                <a:ea typeface="+mn-lt"/>
                <a:cs typeface="+mn-lt"/>
              </a:rPr>
              <a:t> la </a:t>
            </a:r>
            <a:r>
              <a:rPr lang="en-US" sz="1400" dirty="0" err="1">
                <a:ea typeface="+mn-lt"/>
                <a:cs typeface="+mn-lt"/>
              </a:rPr>
              <a:t>fracción</a:t>
            </a:r>
            <a:r>
              <a:rPr lang="en-US" sz="1400" dirty="0">
                <a:ea typeface="+mn-lt"/>
                <a:cs typeface="+mn-lt"/>
              </a:rPr>
              <a:t> TE,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modo fundamental se </a:t>
            </a:r>
            <a:r>
              <a:rPr lang="en-US" sz="1400" dirty="0" err="1">
                <a:ea typeface="+mn-lt"/>
                <a:cs typeface="+mn-lt"/>
              </a:rPr>
              <a:t>mantiene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muy</a:t>
            </a:r>
            <a:r>
              <a:rPr lang="en-US" sz="1400" dirty="0">
                <a:ea typeface="+mn-lt"/>
                <a:cs typeface="+mn-lt"/>
              </a:rPr>
              <a:t> claro </a:t>
            </a:r>
            <a:r>
              <a:rPr lang="en-US" sz="1400" dirty="0" err="1">
                <a:ea typeface="+mn-lt"/>
                <a:cs typeface="+mn-lt"/>
              </a:rPr>
              <a:t>como</a:t>
            </a:r>
            <a:r>
              <a:rPr lang="en-US" sz="1400" dirty="0">
                <a:ea typeface="+mn-lt"/>
                <a:cs typeface="+mn-lt"/>
              </a:rPr>
              <a:t> TE, </a:t>
            </a:r>
            <a:r>
              <a:rPr lang="en-US" sz="1400" dirty="0" err="1">
                <a:ea typeface="+mn-lt"/>
                <a:cs typeface="+mn-lt"/>
              </a:rPr>
              <a:t>pero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los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modos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superiores</a:t>
            </a:r>
            <a:r>
              <a:rPr lang="en-US" sz="1400" dirty="0">
                <a:ea typeface="+mn-lt"/>
                <a:cs typeface="+mn-lt"/>
              </a:rPr>
              <a:t> son </a:t>
            </a:r>
            <a:r>
              <a:rPr lang="en-US" sz="1400" dirty="0" err="1">
                <a:ea typeface="+mn-lt"/>
                <a:cs typeface="+mn-lt"/>
              </a:rPr>
              <a:t>más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inestables</a:t>
            </a:r>
            <a:r>
              <a:rPr lang="en-US" sz="1400" dirty="0">
                <a:ea typeface="+mn-lt"/>
                <a:cs typeface="+mn-lt"/>
              </a:rPr>
              <a:t> y </a:t>
            </a:r>
            <a:r>
              <a:rPr lang="en-US" sz="1400" dirty="0" err="1">
                <a:ea typeface="+mn-lt"/>
                <a:cs typeface="+mn-lt"/>
              </a:rPr>
              <a:t>mezclan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polarizaciones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cuando</a:t>
            </a:r>
            <a:r>
              <a:rPr lang="en-US" sz="1400" dirty="0">
                <a:ea typeface="+mn-lt"/>
                <a:cs typeface="+mn-lt"/>
              </a:rPr>
              <a:t> la </a:t>
            </a:r>
            <a:r>
              <a:rPr lang="en-US" sz="1400" dirty="0" err="1">
                <a:ea typeface="+mn-lt"/>
                <a:cs typeface="+mn-lt"/>
              </a:rPr>
              <a:t>guía</a:t>
            </a:r>
            <a:r>
              <a:rPr lang="en-US" sz="1400" dirty="0">
                <a:ea typeface="+mn-lt"/>
                <a:cs typeface="+mn-lt"/>
              </a:rPr>
              <a:t> es </a:t>
            </a:r>
            <a:r>
              <a:rPr lang="en-US" sz="1400" dirty="0" err="1">
                <a:ea typeface="+mn-lt"/>
                <a:cs typeface="+mn-lt"/>
              </a:rPr>
              <a:t>estrecha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estabilizándose</a:t>
            </a:r>
            <a:r>
              <a:rPr lang="en-US" sz="1400" dirty="0">
                <a:ea typeface="+mn-lt"/>
                <a:cs typeface="+mn-lt"/>
              </a:rPr>
              <a:t> solo </a:t>
            </a:r>
            <a:r>
              <a:rPr lang="en-US" sz="1400" dirty="0" err="1">
                <a:ea typeface="+mn-lt"/>
                <a:cs typeface="+mn-lt"/>
              </a:rPr>
              <a:t>cuando</a:t>
            </a:r>
            <a:r>
              <a:rPr lang="en-US" sz="1400" dirty="0">
                <a:ea typeface="+mn-lt"/>
                <a:cs typeface="+mn-lt"/>
              </a:rPr>
              <a:t> le </a:t>
            </a:r>
            <a:r>
              <a:rPr lang="en-US" sz="1400" dirty="0" err="1">
                <a:ea typeface="+mn-lt"/>
                <a:cs typeface="+mn-lt"/>
              </a:rPr>
              <a:t>damos</a:t>
            </a:r>
            <a:r>
              <a:rPr lang="en-US" sz="1400" dirty="0">
                <a:ea typeface="+mn-lt"/>
                <a:cs typeface="+mn-lt"/>
              </a:rPr>
              <a:t> ancho </a:t>
            </a:r>
            <a:r>
              <a:rPr lang="en-US" sz="1400" dirty="0" err="1">
                <a:ea typeface="+mn-lt"/>
                <a:cs typeface="+mn-lt"/>
              </a:rPr>
              <a:t>suficiente</a:t>
            </a:r>
            <a:r>
              <a:rPr lang="en-US" sz="1400" dirty="0">
                <a:ea typeface="+mn-lt"/>
                <a:cs typeface="+mn-lt"/>
              </a:rPr>
              <a:t> a la </a:t>
            </a:r>
            <a:r>
              <a:rPr lang="en-US" sz="1400" dirty="0" err="1">
                <a:ea typeface="+mn-lt"/>
                <a:cs typeface="+mn-lt"/>
              </a:rPr>
              <a:t>guía</a:t>
            </a:r>
            <a:r>
              <a:rPr lang="en-US" sz="1400" dirty="0">
                <a:ea typeface="+mn-lt"/>
                <a:cs typeface="+mn-lt"/>
              </a:rPr>
              <a:t>.</a:t>
            </a:r>
            <a:endParaRPr lang="es-ES" sz="1400" dirty="0">
              <a:ea typeface="+mn-lt"/>
              <a:cs typeface="+mn-lt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BC7D187-267A-ADD4-764C-D3820B8ED302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EF5BFDA-8EC1-8C73-A932-F36C4DB93C73}"/>
              </a:ext>
            </a:extLst>
          </p:cNvPr>
          <p:cNvSpPr txBox="1"/>
          <p:nvPr/>
        </p:nvSpPr>
        <p:spPr>
          <a:xfrm>
            <a:off x="2286000" y="2671278"/>
            <a:ext cx="7718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</p:txBody>
      </p:sp>
      <p:pic>
        <p:nvPicPr>
          <p:cNvPr id="4" name="Imagen 3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BDE67598-9DEE-5C7E-7345-C385608E8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716" y="1512028"/>
            <a:ext cx="5292812" cy="312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17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DA0F9-B230-D9FC-3CE7-03BD08CF5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394400B4-EE16-8E85-AB54-E82FE3B293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#4 – Waveguide compact model</a:t>
            </a:r>
            <a:br>
              <a:rPr lang="en-US" sz="2500" spc="-5" dirty="0">
                <a:latin typeface="+mj-lt"/>
                <a:cs typeface="Lucida Sans"/>
              </a:rPr>
            </a:br>
            <a:r>
              <a:rPr lang="en-US" b="0" dirty="0"/>
              <a:t>- Find the compact models of the following waveguides: </a:t>
            </a:r>
            <a:br>
              <a:rPr lang="en-US" b="0" dirty="0"/>
            </a:br>
            <a:r>
              <a:rPr lang="en-US" dirty="0"/>
              <a:t>Deep</a:t>
            </a:r>
            <a:r>
              <a:rPr lang="en-US" b="0" dirty="0"/>
              <a:t> waveguide, h=300nm, w=1.2um   - </a:t>
            </a:r>
            <a:r>
              <a:rPr lang="en-US" dirty="0"/>
              <a:t>Shallow</a:t>
            </a:r>
            <a:r>
              <a:rPr lang="en-US" b="0" dirty="0"/>
              <a:t> waveguide, core h=300nm, slab h=150 nm, w = 1.2um </a:t>
            </a:r>
            <a:br>
              <a:rPr lang="en-US" b="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4D53B68D-17ED-7EFB-F2B4-10DA7A772E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09AB8697-C1EE-6E9A-6550-ACA2C3AE66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11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70D4A6C-5B37-EDF5-6242-74B16127E96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6B92C76-6772-2E00-346F-532321092C04}"/>
              </a:ext>
            </a:extLst>
          </p:cNvPr>
          <p:cNvSpPr/>
          <p:nvPr/>
        </p:nvSpPr>
        <p:spPr>
          <a:xfrm>
            <a:off x="609441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886628E-6E58-1F7E-B6C6-432B9A228397}"/>
              </a:ext>
            </a:extLst>
          </p:cNvPr>
          <p:cNvSpPr/>
          <p:nvPr/>
        </p:nvSpPr>
        <p:spPr>
          <a:xfrm>
            <a:off x="6321424" y="1447800"/>
            <a:ext cx="5486559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EDE4A2C-47FC-3B30-0318-C50E9F15EAA9}"/>
              </a:ext>
            </a:extLst>
          </p:cNvPr>
          <p:cNvSpPr txBox="1"/>
          <p:nvPr/>
        </p:nvSpPr>
        <p:spPr>
          <a:xfrm>
            <a:off x="609441" y="4772865"/>
            <a:ext cx="11199971" cy="160043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400" dirty="0">
                <a:ea typeface="+mn-lt"/>
                <a:cs typeface="+mn-lt"/>
              </a:rPr>
              <a:t>En </a:t>
            </a:r>
            <a:r>
              <a:rPr lang="en-US" sz="1400" dirty="0" err="1">
                <a:ea typeface="+mn-lt"/>
                <a:cs typeface="+mn-lt"/>
              </a:rPr>
              <a:t>este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apartado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hemos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utilizado</a:t>
            </a:r>
            <a:r>
              <a:rPr lang="en-US" sz="1400" dirty="0">
                <a:ea typeface="+mn-lt"/>
                <a:cs typeface="+mn-lt"/>
              </a:rPr>
              <a:t> un </a:t>
            </a:r>
            <a:r>
              <a:rPr lang="en-US" sz="1400" dirty="0" err="1">
                <a:ea typeface="+mn-lt"/>
                <a:cs typeface="+mn-lt"/>
              </a:rPr>
              <a:t>ajuste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polinomial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segundo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grado</a:t>
            </a:r>
            <a:r>
              <a:rPr lang="en-US" sz="1400" dirty="0">
                <a:ea typeface="+mn-lt"/>
                <a:cs typeface="+mn-lt"/>
              </a:rPr>
              <a:t> para </a:t>
            </a:r>
            <a:r>
              <a:rPr lang="en-US" sz="1400" dirty="0" err="1">
                <a:ea typeface="+mn-lt"/>
                <a:cs typeface="+mn-lt"/>
              </a:rPr>
              <a:t>modelar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cómo</a:t>
            </a:r>
            <a:r>
              <a:rPr lang="en-US" sz="1400" dirty="0">
                <a:ea typeface="+mn-lt"/>
                <a:cs typeface="+mn-lt"/>
              </a:rPr>
              <a:t> cambia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índice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efectivo</a:t>
            </a:r>
            <a:r>
              <a:rPr lang="en-US" sz="1400" dirty="0">
                <a:ea typeface="+mn-lt"/>
                <a:cs typeface="+mn-lt"/>
              </a:rPr>
              <a:t> (</a:t>
            </a:r>
            <a:r>
              <a:rPr lang="en-US" sz="1400" dirty="0" err="1">
                <a:ea typeface="+mn-lt"/>
                <a:cs typeface="+mn-lt"/>
              </a:rPr>
              <a:t>neff</a:t>
            </a:r>
            <a:r>
              <a:rPr lang="en-US" sz="1400" dirty="0">
                <a:ea typeface="+mn-lt"/>
                <a:cs typeface="+mn-lt"/>
              </a:rPr>
              <a:t> ) con la </a:t>
            </a:r>
            <a:r>
              <a:rPr lang="en-US" sz="1400" dirty="0" err="1">
                <a:ea typeface="+mn-lt"/>
                <a:cs typeface="+mn-lt"/>
              </a:rPr>
              <a:t>longitud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onda</a:t>
            </a:r>
            <a:r>
              <a:rPr lang="en-US" sz="1400" dirty="0">
                <a:ea typeface="+mn-lt"/>
                <a:cs typeface="+mn-lt"/>
              </a:rPr>
              <a:t> para </a:t>
            </a:r>
            <a:r>
              <a:rPr lang="en-US" sz="1400" dirty="0" err="1">
                <a:ea typeface="+mn-lt"/>
                <a:cs typeface="+mn-lt"/>
              </a:rPr>
              <a:t>los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modos</a:t>
            </a:r>
            <a:r>
              <a:rPr lang="en-US" sz="1400" dirty="0">
                <a:ea typeface="+mn-lt"/>
                <a:cs typeface="+mn-lt"/>
              </a:rPr>
              <a:t> TE0 y TM0. Como se </a:t>
            </a:r>
            <a:r>
              <a:rPr lang="en-US" sz="1400" dirty="0" err="1">
                <a:ea typeface="+mn-lt"/>
                <a:cs typeface="+mn-lt"/>
              </a:rPr>
              <a:t>ve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los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resultados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todos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los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casos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neff</a:t>
            </a:r>
            <a:r>
              <a:rPr lang="en-US" sz="1400" dirty="0">
                <a:ea typeface="+mn-lt"/>
                <a:cs typeface="+mn-lt"/>
              </a:rPr>
              <a:t>  </a:t>
            </a:r>
            <a:r>
              <a:rPr lang="en-US" sz="1400" dirty="0" err="1">
                <a:ea typeface="+mn-lt"/>
                <a:cs typeface="+mn-lt"/>
              </a:rPr>
              <a:t>va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bajando</a:t>
            </a:r>
            <a:r>
              <a:rPr lang="en-US" sz="1400" dirty="0">
                <a:ea typeface="+mn-lt"/>
                <a:cs typeface="+mn-lt"/>
              </a:rPr>
              <a:t> al </a:t>
            </a:r>
            <a:r>
              <a:rPr lang="en-US" sz="1400" dirty="0" err="1">
                <a:ea typeface="+mn-lt"/>
                <a:cs typeface="+mn-lt"/>
              </a:rPr>
              <a:t>subir</a:t>
            </a:r>
            <a:r>
              <a:rPr lang="en-US" sz="1400" dirty="0">
                <a:ea typeface="+mn-lt"/>
                <a:cs typeface="+mn-lt"/>
              </a:rPr>
              <a:t> la </a:t>
            </a:r>
            <a:r>
              <a:rPr lang="en-US" sz="1400" dirty="0" err="1">
                <a:ea typeface="+mn-lt"/>
                <a:cs typeface="+mn-lt"/>
              </a:rPr>
              <a:t>longitud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onda</a:t>
            </a:r>
            <a:r>
              <a:rPr lang="en-US" sz="1400" dirty="0">
                <a:ea typeface="+mn-lt"/>
                <a:cs typeface="+mn-lt"/>
              </a:rPr>
              <a:t>, lo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confirma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hay </a:t>
            </a:r>
            <a:r>
              <a:rPr lang="en-US" sz="1400" dirty="0" err="1">
                <a:ea typeface="+mn-lt"/>
                <a:cs typeface="+mn-lt"/>
              </a:rPr>
              <a:t>dispersión</a:t>
            </a:r>
            <a:r>
              <a:rPr lang="en-US" sz="1400" dirty="0">
                <a:ea typeface="+mn-lt"/>
                <a:cs typeface="+mn-lt"/>
              </a:rPr>
              <a:t> normal. A </a:t>
            </a:r>
            <a:r>
              <a:rPr lang="en-US" sz="1400" dirty="0" err="1">
                <a:ea typeface="+mn-lt"/>
                <a:cs typeface="+mn-lt"/>
              </a:rPr>
              <a:t>partir</a:t>
            </a:r>
            <a:r>
              <a:rPr lang="en-US" sz="1400" dirty="0">
                <a:ea typeface="+mn-lt"/>
                <a:cs typeface="+mn-lt"/>
              </a:rPr>
              <a:t> de la forma de </a:t>
            </a:r>
            <a:r>
              <a:rPr lang="en-US" sz="1400" dirty="0" err="1">
                <a:ea typeface="+mn-lt"/>
                <a:cs typeface="+mn-lt"/>
              </a:rPr>
              <a:t>esta</a:t>
            </a:r>
            <a:r>
              <a:rPr lang="en-US" sz="1400" dirty="0">
                <a:ea typeface="+mn-lt"/>
                <a:cs typeface="+mn-lt"/>
              </a:rPr>
              <a:t> curva, </a:t>
            </a:r>
            <a:r>
              <a:rPr lang="en-US" sz="1400" dirty="0" err="1">
                <a:ea typeface="+mn-lt"/>
                <a:cs typeface="+mn-lt"/>
              </a:rPr>
              <a:t>hemos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podido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extraer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parámetros</a:t>
            </a:r>
            <a:r>
              <a:rPr lang="en-US" sz="1400" dirty="0">
                <a:ea typeface="+mn-lt"/>
                <a:cs typeface="+mn-lt"/>
              </a:rPr>
              <a:t> clave: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índice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grupo</a:t>
            </a:r>
            <a:r>
              <a:rPr lang="en-US" sz="1400" dirty="0">
                <a:ea typeface="+mn-lt"/>
                <a:cs typeface="+mn-lt"/>
              </a:rPr>
              <a:t> (ng ),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como</a:t>
            </a:r>
            <a:r>
              <a:rPr lang="en-US" sz="1400" dirty="0">
                <a:ea typeface="+mn-lt"/>
                <a:cs typeface="+mn-lt"/>
              </a:rPr>
              <a:t> era de </a:t>
            </a:r>
            <a:r>
              <a:rPr lang="en-US" sz="1400" dirty="0" err="1">
                <a:ea typeface="+mn-lt"/>
                <a:cs typeface="+mn-lt"/>
              </a:rPr>
              <a:t>esperar</a:t>
            </a:r>
            <a:r>
              <a:rPr lang="en-US" sz="1400" dirty="0">
                <a:ea typeface="+mn-lt"/>
                <a:cs typeface="+mn-lt"/>
              </a:rPr>
              <a:t> sale mayor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efectivo</a:t>
            </a:r>
            <a:r>
              <a:rPr lang="en-US" sz="1400" dirty="0">
                <a:ea typeface="+mn-lt"/>
                <a:cs typeface="+mn-lt"/>
              </a:rPr>
              <a:t>, y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parámetro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dispersión</a:t>
            </a:r>
            <a:r>
              <a:rPr lang="en-US" sz="1400" dirty="0">
                <a:ea typeface="+mn-lt"/>
                <a:cs typeface="+mn-lt"/>
              </a:rPr>
              <a:t> (D),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básicamente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nos</a:t>
            </a:r>
            <a:r>
              <a:rPr lang="en-US" sz="1400" dirty="0">
                <a:ea typeface="+mn-lt"/>
                <a:cs typeface="+mn-lt"/>
              </a:rPr>
              <a:t> dice </a:t>
            </a:r>
            <a:r>
              <a:rPr lang="en-US" sz="1400" dirty="0" err="1">
                <a:ea typeface="+mn-lt"/>
                <a:cs typeface="+mn-lt"/>
              </a:rPr>
              <a:t>cómo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varía</a:t>
            </a:r>
            <a:r>
              <a:rPr lang="en-US" sz="1400" dirty="0">
                <a:ea typeface="+mn-lt"/>
                <a:cs typeface="+mn-lt"/>
              </a:rPr>
              <a:t> la </a:t>
            </a:r>
            <a:r>
              <a:rPr lang="en-US" sz="1400" dirty="0" err="1">
                <a:ea typeface="+mn-lt"/>
                <a:cs typeface="+mn-lt"/>
              </a:rPr>
              <a:t>velocidad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propagación</a:t>
            </a:r>
            <a:r>
              <a:rPr lang="en-US" sz="1400" dirty="0">
                <a:ea typeface="+mn-lt"/>
                <a:cs typeface="+mn-lt"/>
              </a:rPr>
              <a:t> de la luz a lo largo del </a:t>
            </a:r>
            <a:r>
              <a:rPr lang="en-US" sz="1400" dirty="0" err="1">
                <a:ea typeface="+mn-lt"/>
                <a:cs typeface="+mn-lt"/>
              </a:rPr>
              <a:t>espectro</a:t>
            </a:r>
            <a:r>
              <a:rPr lang="en-US" sz="1400" dirty="0">
                <a:ea typeface="+mn-lt"/>
                <a:cs typeface="+mn-lt"/>
              </a:rPr>
              <a:t>. Por </a:t>
            </a:r>
            <a:r>
              <a:rPr lang="en-US" sz="1400" dirty="0" err="1">
                <a:ea typeface="+mn-lt"/>
                <a:cs typeface="+mn-lt"/>
              </a:rPr>
              <a:t>último</a:t>
            </a:r>
            <a:r>
              <a:rPr lang="en-US" sz="1400" dirty="0">
                <a:ea typeface="+mn-lt"/>
                <a:cs typeface="+mn-lt"/>
              </a:rPr>
              <a:t>, al </a:t>
            </a:r>
            <a:r>
              <a:rPr lang="en-US" sz="1400" dirty="0" err="1">
                <a:ea typeface="+mn-lt"/>
                <a:cs typeface="+mn-lt"/>
              </a:rPr>
              <a:t>comparar</a:t>
            </a:r>
            <a:r>
              <a:rPr lang="en-US" sz="1400" dirty="0">
                <a:ea typeface="+mn-lt"/>
                <a:cs typeface="+mn-lt"/>
              </a:rPr>
              <a:t> de nuevo ambas </a:t>
            </a:r>
            <a:r>
              <a:rPr lang="en-US" sz="1400" dirty="0" err="1">
                <a:ea typeface="+mn-lt"/>
                <a:cs typeface="+mn-lt"/>
              </a:rPr>
              <a:t>estructuras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comprobamos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la </a:t>
            </a:r>
            <a:r>
              <a:rPr lang="en-US" sz="1400" dirty="0" err="1">
                <a:ea typeface="+mn-lt"/>
                <a:cs typeface="+mn-lt"/>
              </a:rPr>
              <a:t>guía</a:t>
            </a:r>
            <a:r>
              <a:rPr lang="en-US" sz="1400" dirty="0">
                <a:ea typeface="+mn-lt"/>
                <a:cs typeface="+mn-lt"/>
              </a:rPr>
              <a:t> shallow </a:t>
            </a:r>
            <a:r>
              <a:rPr lang="en-US" sz="1400" dirty="0" err="1">
                <a:ea typeface="+mn-lt"/>
                <a:cs typeface="+mn-lt"/>
              </a:rPr>
              <a:t>siempre</a:t>
            </a:r>
            <a:r>
              <a:rPr lang="en-US" sz="1400" dirty="0">
                <a:ea typeface="+mn-lt"/>
                <a:cs typeface="+mn-lt"/>
              </a:rPr>
              <a:t> da </a:t>
            </a:r>
            <a:r>
              <a:rPr lang="en-US" sz="1400" dirty="0" err="1">
                <a:ea typeface="+mn-lt"/>
                <a:cs typeface="+mn-lt"/>
              </a:rPr>
              <a:t>valores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neff</a:t>
            </a:r>
            <a:r>
              <a:rPr lang="en-US" sz="1400" dirty="0">
                <a:ea typeface="+mn-lt"/>
                <a:cs typeface="+mn-lt"/>
              </a:rPr>
              <a:t>  </a:t>
            </a:r>
            <a:r>
              <a:rPr lang="en-US" sz="1400" dirty="0" err="1">
                <a:ea typeface="+mn-lt"/>
                <a:cs typeface="+mn-lt"/>
              </a:rPr>
              <a:t>mayores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la deep </a:t>
            </a:r>
            <a:r>
              <a:rPr lang="en-US" sz="1400" dirty="0" err="1">
                <a:ea typeface="+mn-lt"/>
                <a:cs typeface="+mn-lt"/>
              </a:rPr>
              <a:t>porque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slab </a:t>
            </a:r>
            <a:r>
              <a:rPr lang="en-US" sz="1400" dirty="0" err="1">
                <a:ea typeface="+mn-lt"/>
                <a:cs typeface="+mn-lt"/>
              </a:rPr>
              <a:t>ayuda</a:t>
            </a:r>
            <a:r>
              <a:rPr lang="en-US" sz="1400" dirty="0">
                <a:ea typeface="+mn-lt"/>
                <a:cs typeface="+mn-lt"/>
              </a:rPr>
              <a:t> a </a:t>
            </a:r>
            <a:r>
              <a:rPr lang="en-US" sz="1400" dirty="0" err="1">
                <a:ea typeface="+mn-lt"/>
                <a:cs typeface="+mn-lt"/>
              </a:rPr>
              <a:t>confinar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mejor</a:t>
            </a:r>
            <a:r>
              <a:rPr lang="en-US" sz="1400" dirty="0">
                <a:ea typeface="+mn-lt"/>
                <a:cs typeface="+mn-lt"/>
              </a:rPr>
              <a:t> la luz, </a:t>
            </a:r>
            <a:r>
              <a:rPr lang="en-US" sz="1400" dirty="0" err="1">
                <a:ea typeface="+mn-lt"/>
                <a:cs typeface="+mn-lt"/>
              </a:rPr>
              <a:t>siendo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modo TE0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más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robusto</a:t>
            </a:r>
            <a:r>
              <a:rPr lang="en-US" sz="1400" dirty="0">
                <a:ea typeface="+mn-lt"/>
                <a:cs typeface="+mn-lt"/>
              </a:rPr>
              <a:t> y </a:t>
            </a:r>
            <a:r>
              <a:rPr lang="en-US" sz="1400" dirty="0" err="1">
                <a:ea typeface="+mn-lt"/>
                <a:cs typeface="+mn-lt"/>
              </a:rPr>
              <a:t>confinado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núcleo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mientras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TM0 </a:t>
            </a:r>
            <a:r>
              <a:rPr lang="en-US" sz="1400" dirty="0" err="1">
                <a:ea typeface="+mn-lt"/>
                <a:cs typeface="+mn-lt"/>
              </a:rPr>
              <a:t>tiende</a:t>
            </a:r>
            <a:r>
              <a:rPr lang="en-US" sz="1400" dirty="0">
                <a:ea typeface="+mn-lt"/>
                <a:cs typeface="+mn-lt"/>
              </a:rPr>
              <a:t> a </a:t>
            </a:r>
            <a:r>
              <a:rPr lang="en-US" sz="1400" dirty="0" err="1">
                <a:ea typeface="+mn-lt"/>
                <a:cs typeface="+mn-lt"/>
              </a:rPr>
              <a:t>interactuar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mucho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más</a:t>
            </a:r>
            <a:r>
              <a:rPr lang="en-US" sz="1400" dirty="0">
                <a:ea typeface="+mn-lt"/>
                <a:cs typeface="+mn-lt"/>
              </a:rPr>
              <a:t> con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óxido</a:t>
            </a:r>
            <a:r>
              <a:rPr lang="en-US" sz="1400" dirty="0">
                <a:ea typeface="+mn-lt"/>
                <a:cs typeface="+mn-lt"/>
              </a:rPr>
              <a:t> de la </a:t>
            </a:r>
            <a:r>
              <a:rPr lang="en-US" sz="1400" dirty="0" err="1">
                <a:ea typeface="+mn-lt"/>
                <a:cs typeface="+mn-lt"/>
              </a:rPr>
              <a:t>cubierta</a:t>
            </a:r>
            <a:r>
              <a:rPr lang="en-US" sz="1400" dirty="0">
                <a:ea typeface="+mn-lt"/>
                <a:cs typeface="+mn-lt"/>
              </a:rPr>
              <a:t>.</a:t>
            </a:r>
            <a:endParaRPr lang="es-ES" sz="1400" dirty="0"/>
          </a:p>
        </p:txBody>
      </p:sp>
      <p:pic>
        <p:nvPicPr>
          <p:cNvPr id="4" name="Imagen 3" descr="Gráfico&#10;&#10;El contenido generado por IA puede ser incorrecto.">
            <a:extLst>
              <a:ext uri="{FF2B5EF4-FFF2-40B4-BE49-F238E27FC236}">
                <a16:creationId xmlns:a16="http://schemas.microsoft.com/office/drawing/2014/main" id="{DDA07E01-70A8-875C-73BE-E895E7A84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9214" y="1437308"/>
            <a:ext cx="3696529" cy="332077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CB4C836-E394-978D-30B3-62FE823A33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5929" y="1437308"/>
            <a:ext cx="3683967" cy="3298687"/>
          </a:xfrm>
          <a:prstGeom prst="rect">
            <a:avLst/>
          </a:prstGeom>
        </p:spPr>
      </p:pic>
      <p:pic>
        <p:nvPicPr>
          <p:cNvPr id="9" name="Imagen 8" descr="Texto&#10;&#10;El contenido generado por IA puede ser incorrecto.">
            <a:extLst>
              <a:ext uri="{FF2B5EF4-FFF2-40B4-BE49-F238E27FC236}">
                <a16:creationId xmlns:a16="http://schemas.microsoft.com/office/drawing/2014/main" id="{BA46DF84-56A6-B4C1-0320-827635F40A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5278" y="3605349"/>
            <a:ext cx="1849094" cy="1116084"/>
          </a:xfrm>
          <a:prstGeom prst="rect">
            <a:avLst/>
          </a:prstGeom>
        </p:spPr>
      </p:pic>
      <p:pic>
        <p:nvPicPr>
          <p:cNvPr id="10" name="Imagen 9" descr="Texto&#10;&#10;El contenido generado por IA puede ser incorrecto.">
            <a:extLst>
              <a:ext uri="{FF2B5EF4-FFF2-40B4-BE49-F238E27FC236}">
                <a16:creationId xmlns:a16="http://schemas.microsoft.com/office/drawing/2014/main" id="{752EA92B-37FD-B0B5-E05B-81B55AC82E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6729" y="3602037"/>
            <a:ext cx="2039258" cy="113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54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34E70-43B1-3881-1771-20FB43584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42C31CE-19F0-B995-0997-9A2D6A879B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#5 – Bend waveguide radius vs. loss – deep</a:t>
            </a:r>
            <a:br>
              <a:rPr lang="en-US" sz="2500" dirty="0"/>
            </a:br>
            <a:r>
              <a:rPr lang="en-US" b="0" dirty="0"/>
              <a:t>Find  neff_TE0 for </a:t>
            </a:r>
            <a:r>
              <a:rPr lang="en-US" b="0" dirty="0" err="1"/>
              <a:t>wvl</a:t>
            </a:r>
            <a:r>
              <a:rPr lang="en-US" b="0" dirty="0"/>
              <a:t> 1.55 µm, width 1.2 µm for R=25,50,75,100, 125,150 µm</a:t>
            </a:r>
            <a:br>
              <a:rPr lang="en-US" sz="2500" dirty="0"/>
            </a:br>
            <a:endParaRPr lang="en-US"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D688A609-F3DC-EE34-C536-683E70F32E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B6C672C6-89D4-7E67-2B94-811D081786A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A1F4313-D710-7A3E-7A8F-EB77DEE3C1A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DE3A197-9508-F9F1-1FEB-FF883D78C151}"/>
              </a:ext>
            </a:extLst>
          </p:cNvPr>
          <p:cNvSpPr txBox="1"/>
          <p:nvPr/>
        </p:nvSpPr>
        <p:spPr>
          <a:xfrm>
            <a:off x="609441" y="4860334"/>
            <a:ext cx="11199971" cy="178510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400" dirty="0">
                <a:ea typeface="+mn-lt"/>
                <a:cs typeface="+mn-lt"/>
              </a:rPr>
              <a:t>En </a:t>
            </a:r>
            <a:r>
              <a:rPr lang="en-US" sz="1400" dirty="0" err="1">
                <a:ea typeface="+mn-lt"/>
                <a:cs typeface="+mn-lt"/>
              </a:rPr>
              <a:t>este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último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apartado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hemos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simulado</a:t>
            </a:r>
            <a:r>
              <a:rPr lang="en-US" sz="1400" dirty="0">
                <a:ea typeface="+mn-lt"/>
                <a:cs typeface="+mn-lt"/>
              </a:rPr>
              <a:t> las </a:t>
            </a:r>
            <a:r>
              <a:rPr lang="en-US" sz="1400" dirty="0" err="1">
                <a:ea typeface="+mn-lt"/>
                <a:cs typeface="+mn-lt"/>
              </a:rPr>
              <a:t>pérdidas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sufre</a:t>
            </a:r>
            <a:r>
              <a:rPr lang="en-US" sz="1400" dirty="0">
                <a:ea typeface="+mn-lt"/>
                <a:cs typeface="+mn-lt"/>
              </a:rPr>
              <a:t> la luz al pasar </a:t>
            </a:r>
            <a:r>
              <a:rPr lang="en-US" sz="1400" dirty="0" err="1">
                <a:ea typeface="+mn-lt"/>
                <a:cs typeface="+mn-lt"/>
              </a:rPr>
              <a:t>por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una</a:t>
            </a:r>
            <a:r>
              <a:rPr lang="en-US" sz="1400" dirty="0">
                <a:ea typeface="+mn-lt"/>
                <a:cs typeface="+mn-lt"/>
              </a:rPr>
              <a:t> curva. Como se </a:t>
            </a:r>
            <a:r>
              <a:rPr lang="en-US" sz="1400" dirty="0" err="1">
                <a:ea typeface="+mn-lt"/>
                <a:cs typeface="+mn-lt"/>
              </a:rPr>
              <a:t>ve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claramente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la </a:t>
            </a:r>
            <a:r>
              <a:rPr lang="en-US" sz="1400" dirty="0" err="1">
                <a:ea typeface="+mn-lt"/>
                <a:cs typeface="+mn-lt"/>
              </a:rPr>
              <a:t>gráfica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si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usamos</a:t>
            </a:r>
            <a:r>
              <a:rPr lang="en-US" sz="1400" dirty="0">
                <a:ea typeface="+mn-lt"/>
                <a:cs typeface="+mn-lt"/>
              </a:rPr>
              <a:t> un radio </a:t>
            </a:r>
            <a:r>
              <a:rPr lang="en-US" sz="1400" dirty="0" err="1">
                <a:ea typeface="+mn-lt"/>
                <a:cs typeface="+mn-lt"/>
              </a:rPr>
              <a:t>muy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pequeño</a:t>
            </a:r>
            <a:r>
              <a:rPr lang="en-US" sz="1400" dirty="0">
                <a:ea typeface="+mn-lt"/>
                <a:cs typeface="+mn-lt"/>
              </a:rPr>
              <a:t>, la curva es </a:t>
            </a:r>
            <a:r>
              <a:rPr lang="en-US" sz="1400" dirty="0" err="1">
                <a:ea typeface="+mn-lt"/>
                <a:cs typeface="+mn-lt"/>
              </a:rPr>
              <a:t>demasiado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cerrada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modo se </a:t>
            </a:r>
            <a:r>
              <a:rPr lang="en-US" sz="1400" dirty="0" err="1">
                <a:ea typeface="+mn-lt"/>
                <a:cs typeface="+mn-lt"/>
              </a:rPr>
              <a:t>desajusta</a:t>
            </a:r>
            <a:r>
              <a:rPr lang="en-US" sz="1400" dirty="0">
                <a:ea typeface="+mn-lt"/>
                <a:cs typeface="+mn-lt"/>
              </a:rPr>
              <a:t> y las </a:t>
            </a:r>
            <a:r>
              <a:rPr lang="en-US" sz="1400" dirty="0" err="1">
                <a:ea typeface="+mn-lt"/>
                <a:cs typeface="+mn-lt"/>
              </a:rPr>
              <a:t>pérdidas</a:t>
            </a:r>
            <a:r>
              <a:rPr lang="en-US" sz="1400" dirty="0">
                <a:ea typeface="+mn-lt"/>
                <a:cs typeface="+mn-lt"/>
              </a:rPr>
              <a:t> se </a:t>
            </a:r>
            <a:r>
              <a:rPr lang="en-US" sz="1400" dirty="0" err="1">
                <a:ea typeface="+mn-lt"/>
                <a:cs typeface="+mn-lt"/>
              </a:rPr>
              <a:t>disparan</a:t>
            </a:r>
            <a:r>
              <a:rPr lang="en-US" sz="1400" dirty="0">
                <a:ea typeface="+mn-lt"/>
                <a:cs typeface="+mn-lt"/>
              </a:rPr>
              <a:t>. En </a:t>
            </a:r>
            <a:r>
              <a:rPr lang="en-US" sz="1400" dirty="0" err="1">
                <a:ea typeface="+mn-lt"/>
                <a:cs typeface="+mn-lt"/>
              </a:rPr>
              <a:t>cambio</a:t>
            </a:r>
            <a:r>
              <a:rPr lang="en-US" sz="1400" dirty="0">
                <a:ea typeface="+mn-lt"/>
                <a:cs typeface="+mn-lt"/>
              </a:rPr>
              <a:t>, a </a:t>
            </a:r>
            <a:r>
              <a:rPr lang="en-US" sz="1400" dirty="0" err="1">
                <a:ea typeface="+mn-lt"/>
                <a:cs typeface="+mn-lt"/>
              </a:rPr>
              <a:t>medida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aumentamos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radio, la </a:t>
            </a:r>
            <a:r>
              <a:rPr lang="en-US" sz="1400" dirty="0" err="1">
                <a:ea typeface="+mn-lt"/>
                <a:cs typeface="+mn-lt"/>
              </a:rPr>
              <a:t>guía</a:t>
            </a:r>
            <a:r>
              <a:rPr lang="en-US" sz="1400" dirty="0">
                <a:ea typeface="+mn-lt"/>
                <a:cs typeface="+mn-lt"/>
              </a:rPr>
              <a:t> se </a:t>
            </a:r>
            <a:r>
              <a:rPr lang="en-US" sz="1400" dirty="0" err="1">
                <a:ea typeface="+mn-lt"/>
                <a:cs typeface="+mn-lt"/>
              </a:rPr>
              <a:t>comporta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casi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como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una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línea</a:t>
            </a:r>
            <a:r>
              <a:rPr lang="en-US" sz="1400" dirty="0">
                <a:ea typeface="+mn-lt"/>
                <a:cs typeface="+mn-lt"/>
              </a:rPr>
              <a:t> recta y la luz </a:t>
            </a:r>
            <a:r>
              <a:rPr lang="en-US" sz="1400" dirty="0" err="1">
                <a:ea typeface="+mn-lt"/>
                <a:cs typeface="+mn-lt"/>
              </a:rPr>
              <a:t>apenas</a:t>
            </a:r>
            <a:r>
              <a:rPr lang="en-US" sz="1400" dirty="0">
                <a:ea typeface="+mn-lt"/>
                <a:cs typeface="+mn-lt"/>
              </a:rPr>
              <a:t> se </a:t>
            </a:r>
            <a:r>
              <a:rPr lang="en-US" sz="1400" dirty="0" err="1">
                <a:ea typeface="+mn-lt"/>
                <a:cs typeface="+mn-lt"/>
              </a:rPr>
              <a:t>escapa</a:t>
            </a:r>
            <a:r>
              <a:rPr lang="en-US" sz="1400" dirty="0">
                <a:ea typeface="+mn-lt"/>
                <a:cs typeface="+mn-lt"/>
              </a:rPr>
              <a:t>. </a:t>
            </a:r>
            <a:r>
              <a:rPr lang="en-US" sz="1400" dirty="0" err="1">
                <a:ea typeface="+mn-lt"/>
                <a:cs typeface="+mn-lt"/>
              </a:rPr>
              <a:t>Basándonos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criterio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diseño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exige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mantener</a:t>
            </a:r>
            <a:r>
              <a:rPr lang="en-US" sz="1400" dirty="0">
                <a:ea typeface="+mn-lt"/>
                <a:cs typeface="+mn-lt"/>
              </a:rPr>
              <a:t> las </a:t>
            </a:r>
            <a:r>
              <a:rPr lang="en-US" sz="1400" dirty="0" err="1">
                <a:ea typeface="+mn-lt"/>
                <a:cs typeface="+mn-lt"/>
              </a:rPr>
              <a:t>pérdidas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por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debajo</a:t>
            </a:r>
            <a:r>
              <a:rPr lang="en-US" sz="1400" dirty="0">
                <a:ea typeface="+mn-lt"/>
                <a:cs typeface="+mn-lt"/>
              </a:rPr>
              <a:t> de 0.1 dB </a:t>
            </a:r>
            <a:r>
              <a:rPr lang="en-US" sz="1400" dirty="0" err="1">
                <a:ea typeface="+mn-lt"/>
                <a:cs typeface="+mn-lt"/>
              </a:rPr>
              <a:t>por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cada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giro</a:t>
            </a:r>
            <a:r>
              <a:rPr lang="en-US" sz="1400" dirty="0">
                <a:ea typeface="+mn-lt"/>
                <a:cs typeface="+mn-lt"/>
              </a:rPr>
              <a:t> de 90 </a:t>
            </a:r>
            <a:r>
              <a:rPr lang="en-US" sz="1400" dirty="0" err="1">
                <a:ea typeface="+mn-lt"/>
                <a:cs typeface="+mn-lt"/>
              </a:rPr>
              <a:t>grados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hemos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comprobado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nuestro</a:t>
            </a:r>
            <a:r>
              <a:rPr lang="en-US" sz="1400" dirty="0">
                <a:ea typeface="+mn-lt"/>
                <a:cs typeface="+mn-lt"/>
              </a:rPr>
              <a:t> radio </a:t>
            </a:r>
            <a:r>
              <a:rPr lang="en-US" sz="1400" dirty="0" err="1">
                <a:ea typeface="+mn-lt"/>
                <a:cs typeface="+mn-lt"/>
              </a:rPr>
              <a:t>mínimo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seguro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debe</a:t>
            </a:r>
            <a:r>
              <a:rPr lang="en-US" sz="1400" dirty="0">
                <a:ea typeface="+mn-lt"/>
                <a:cs typeface="+mn-lt"/>
              </a:rPr>
              <a:t> ser de </a:t>
            </a:r>
            <a:r>
              <a:rPr lang="en-US" sz="1400" dirty="0" err="1">
                <a:ea typeface="+mn-lt"/>
                <a:cs typeface="+mn-lt"/>
              </a:rPr>
              <a:t>unos</a:t>
            </a:r>
            <a:r>
              <a:rPr lang="en-US" sz="1400" dirty="0">
                <a:ea typeface="+mn-lt"/>
                <a:cs typeface="+mn-lt"/>
              </a:rPr>
              <a:t> 30 µm. A </a:t>
            </a:r>
            <a:r>
              <a:rPr lang="en-US" sz="1400" dirty="0" err="1">
                <a:ea typeface="+mn-lt"/>
                <a:cs typeface="+mn-lt"/>
              </a:rPr>
              <a:t>partir</a:t>
            </a:r>
            <a:r>
              <a:rPr lang="en-US" sz="1400" dirty="0">
                <a:ea typeface="+mn-lt"/>
                <a:cs typeface="+mn-lt"/>
              </a:rPr>
              <a:t> de ese valor, </a:t>
            </a:r>
            <a:r>
              <a:rPr lang="en-US" sz="1400" dirty="0" err="1">
                <a:ea typeface="+mn-lt"/>
                <a:cs typeface="+mn-lt"/>
              </a:rPr>
              <a:t>seguir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haciendo</a:t>
            </a:r>
            <a:r>
              <a:rPr lang="en-US" sz="1400" dirty="0">
                <a:ea typeface="+mn-lt"/>
                <a:cs typeface="+mn-lt"/>
              </a:rPr>
              <a:t> la curva </a:t>
            </a:r>
            <a:r>
              <a:rPr lang="en-US" sz="1400" dirty="0" err="1">
                <a:ea typeface="+mn-lt"/>
                <a:cs typeface="+mn-lt"/>
              </a:rPr>
              <a:t>más</a:t>
            </a:r>
            <a:r>
              <a:rPr lang="en-US" sz="1400" dirty="0">
                <a:ea typeface="+mn-lt"/>
                <a:cs typeface="+mn-lt"/>
              </a:rPr>
              <a:t> grande </a:t>
            </a:r>
            <a:r>
              <a:rPr lang="en-US" sz="1400" dirty="0" err="1">
                <a:ea typeface="+mn-lt"/>
                <a:cs typeface="+mn-lt"/>
              </a:rPr>
              <a:t>apenas</a:t>
            </a:r>
            <a:r>
              <a:rPr lang="en-US" sz="1400" dirty="0">
                <a:ea typeface="+mn-lt"/>
                <a:cs typeface="+mn-lt"/>
              </a:rPr>
              <a:t> reduce las </a:t>
            </a:r>
            <a:r>
              <a:rPr lang="en-US" sz="1400" dirty="0" err="1">
                <a:ea typeface="+mn-lt"/>
                <a:cs typeface="+mn-lt"/>
              </a:rPr>
              <a:t>pérdidas</a:t>
            </a:r>
            <a:r>
              <a:rPr lang="en-US" sz="1400" dirty="0">
                <a:ea typeface="+mn-lt"/>
                <a:cs typeface="+mn-lt"/>
              </a:rPr>
              <a:t> y solo </a:t>
            </a:r>
            <a:r>
              <a:rPr lang="en-US" sz="1400" dirty="0" err="1">
                <a:ea typeface="+mn-lt"/>
                <a:cs typeface="+mn-lt"/>
              </a:rPr>
              <a:t>serviría</a:t>
            </a:r>
            <a:r>
              <a:rPr lang="en-US" sz="1400" dirty="0">
                <a:ea typeface="+mn-lt"/>
                <a:cs typeface="+mn-lt"/>
              </a:rPr>
              <a:t> para </a:t>
            </a:r>
            <a:r>
              <a:rPr lang="en-US" sz="1400" dirty="0" err="1">
                <a:ea typeface="+mn-lt"/>
                <a:cs typeface="+mn-lt"/>
              </a:rPr>
              <a:t>malgastar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espacio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chip, </a:t>
            </a:r>
            <a:r>
              <a:rPr lang="en-US" sz="1400" dirty="0" err="1">
                <a:ea typeface="+mn-lt"/>
                <a:cs typeface="+mn-lt"/>
              </a:rPr>
              <a:t>ya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neff</a:t>
            </a:r>
            <a:r>
              <a:rPr lang="en-US" sz="1400" dirty="0">
                <a:ea typeface="+mn-lt"/>
                <a:cs typeface="+mn-lt"/>
              </a:rPr>
              <a:t> se </a:t>
            </a:r>
            <a:r>
              <a:rPr lang="en-US" sz="1400" dirty="0" err="1">
                <a:ea typeface="+mn-lt"/>
                <a:cs typeface="+mn-lt"/>
              </a:rPr>
              <a:t>mantiene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alrededor</a:t>
            </a:r>
            <a:r>
              <a:rPr lang="en-US" sz="1400" dirty="0">
                <a:ea typeface="+mn-lt"/>
                <a:cs typeface="+mn-lt"/>
              </a:rPr>
              <a:t> de 1.6145.</a:t>
            </a:r>
            <a:endParaRPr lang="en-US" sz="1200" dirty="0">
              <a:ea typeface="Calibri"/>
              <a:cs typeface="Calibri"/>
            </a:endParaRPr>
          </a:p>
          <a:p>
            <a:pPr algn="just"/>
            <a:endParaRPr lang="en-US" sz="1400" dirty="0">
              <a:ea typeface="Calibri"/>
              <a:cs typeface="Calibri"/>
            </a:endParaRPr>
          </a:p>
          <a:p>
            <a:pPr algn="just"/>
            <a:r>
              <a:rPr lang="en-US" sz="1400" dirty="0">
                <a:ea typeface="Calibri"/>
                <a:cs typeface="Calibri"/>
              </a:rPr>
              <a:t>En </a:t>
            </a:r>
            <a:r>
              <a:rPr lang="en-US" sz="1400" dirty="0" err="1">
                <a:ea typeface="Calibri"/>
                <a:cs typeface="Calibri"/>
              </a:rPr>
              <a:t>cuanto</a:t>
            </a:r>
            <a:r>
              <a:rPr lang="en-US" sz="1400" dirty="0">
                <a:ea typeface="Calibri"/>
                <a:cs typeface="Calibri"/>
              </a:rPr>
              <a:t> al </a:t>
            </a:r>
            <a:r>
              <a:rPr lang="en-US" sz="1400" dirty="0" err="1">
                <a:ea typeface="Calibri"/>
                <a:cs typeface="Calibri"/>
              </a:rPr>
              <a:t>salto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que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vemos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en</a:t>
            </a:r>
            <a:r>
              <a:rPr lang="en-US" sz="1400" dirty="0">
                <a:ea typeface="Calibri"/>
                <a:cs typeface="Calibri"/>
              </a:rPr>
              <a:t> 140 um, no es </a:t>
            </a:r>
            <a:r>
              <a:rPr lang="en-US" sz="1400" dirty="0" err="1">
                <a:ea typeface="Calibri"/>
                <a:cs typeface="Calibri"/>
              </a:rPr>
              <a:t>relevante</a:t>
            </a:r>
            <a:r>
              <a:rPr lang="en-US" sz="1400" dirty="0">
                <a:ea typeface="Calibri"/>
                <a:cs typeface="Calibri"/>
              </a:rPr>
              <a:t>, y </a:t>
            </a:r>
            <a:r>
              <a:rPr lang="en-US" sz="1400" dirty="0" err="1">
                <a:ea typeface="Calibri"/>
                <a:cs typeface="Calibri"/>
              </a:rPr>
              <a:t>como</a:t>
            </a:r>
            <a:r>
              <a:rPr lang="en-US" sz="1400" dirty="0">
                <a:ea typeface="Calibri"/>
                <a:cs typeface="Calibri"/>
              </a:rPr>
              <a:t> se </a:t>
            </a:r>
            <a:r>
              <a:rPr lang="en-US" sz="1400" dirty="0" err="1">
                <a:ea typeface="Calibri"/>
                <a:cs typeface="Calibri"/>
              </a:rPr>
              <a:t>comentó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en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clase</a:t>
            </a:r>
            <a:r>
              <a:rPr lang="en-US" sz="1400" dirty="0">
                <a:ea typeface="Calibri"/>
                <a:cs typeface="Calibri"/>
              </a:rPr>
              <a:t>, </a:t>
            </a:r>
            <a:r>
              <a:rPr lang="en-US" sz="1400" dirty="0" err="1">
                <a:ea typeface="Calibri"/>
                <a:cs typeface="Calibri"/>
              </a:rPr>
              <a:t>puede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deberse</a:t>
            </a:r>
            <a:r>
              <a:rPr lang="en-US" sz="1400" dirty="0">
                <a:ea typeface="Calibri"/>
                <a:cs typeface="Calibri"/>
              </a:rPr>
              <a:t> a </a:t>
            </a:r>
            <a:r>
              <a:rPr lang="en-US" sz="1400" dirty="0" err="1">
                <a:ea typeface="Calibri"/>
                <a:cs typeface="Calibri"/>
              </a:rPr>
              <a:t>pequeños</a:t>
            </a:r>
            <a:r>
              <a:rPr lang="en-US" sz="1400" dirty="0">
                <a:ea typeface="Calibri"/>
                <a:cs typeface="Calibri"/>
              </a:rPr>
              <a:t> </a:t>
            </a:r>
            <a:r>
              <a:rPr lang="en-US" sz="1400" dirty="0" err="1">
                <a:ea typeface="Calibri"/>
                <a:cs typeface="Calibri"/>
              </a:rPr>
              <a:t>fallos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en</a:t>
            </a:r>
            <a:r>
              <a:rPr lang="en-US" sz="1400" dirty="0">
                <a:ea typeface="Calibri"/>
                <a:cs typeface="Calibri"/>
              </a:rPr>
              <a:t> la </a:t>
            </a:r>
            <a:r>
              <a:rPr lang="en-US" sz="1400" dirty="0" err="1">
                <a:ea typeface="Calibri"/>
                <a:cs typeface="Calibri"/>
              </a:rPr>
              <a:t>matriz</a:t>
            </a:r>
            <a:r>
              <a:rPr lang="en-US" sz="1400" dirty="0">
                <a:ea typeface="Calibri"/>
                <a:cs typeface="Calibri"/>
              </a:rPr>
              <a:t> del </a:t>
            </a:r>
            <a:r>
              <a:rPr lang="en-US" sz="1400" dirty="0" err="1">
                <a:ea typeface="Calibri"/>
                <a:cs typeface="Calibri"/>
              </a:rPr>
              <a:t>modelo</a:t>
            </a:r>
            <a:r>
              <a:rPr lang="en-US" sz="1400" dirty="0">
                <a:ea typeface="Calibri"/>
                <a:cs typeface="Calibri"/>
              </a:rPr>
              <a:t>.</a:t>
            </a:r>
          </a:p>
          <a:p>
            <a:pPr algn="just"/>
            <a:endParaRPr lang="en-US" sz="1200" dirty="0">
              <a:ea typeface="Calibri"/>
              <a:cs typeface="Calibri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5FE8755-B0BF-14B7-64E6-4BBB2560B9A6}"/>
              </a:ext>
            </a:extLst>
          </p:cNvPr>
          <p:cNvSpPr/>
          <p:nvPr/>
        </p:nvSpPr>
        <p:spPr>
          <a:xfrm>
            <a:off x="609441" y="1418373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BE0CFB-A90C-4677-658F-EE0D04F6CA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325" y="1564105"/>
            <a:ext cx="3783532" cy="3013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B7AA01-87D9-7BAB-0147-CB7BD5B308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581" y="1564105"/>
            <a:ext cx="3971138" cy="3076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438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BE7E4-0A35-7346-2BD6-9097DB22E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58ED96F-F223-C203-85A9-81D64E5D0129}"/>
              </a:ext>
            </a:extLst>
          </p:cNvPr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D3E26E49-C887-E105-248C-052457D843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US" sz="3200" b="1" spc="-5">
                <a:solidFill>
                  <a:srgbClr val="FFFFFF"/>
                </a:solidFill>
                <a:latin typeface="Lucida Sans"/>
              </a:rPr>
              <a:t>Extra</a:t>
            </a:r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83E4190-4529-8A65-09AF-7F39A20DA7E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936029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B6BB1-2708-F0A4-F61B-3D0E91026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E71B277-4800-FDE7-0A46-F1F970D041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09004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s-ES" sz="2500" spc="-5" dirty="0">
                <a:latin typeface="+mj-lt"/>
                <a:ea typeface="Calibri"/>
              </a:rPr>
              <a:t>EXTRA:1. Repeat the LO.2. wavelength behavior simulations, considering the updated materials and </a:t>
            </a:r>
            <a:r>
              <a:rPr lang="es-ES" sz="2500" spc="-5" dirty="0" err="1">
                <a:latin typeface="+mj-lt"/>
                <a:ea typeface="Calibri"/>
              </a:rPr>
              <a:t>dimensions</a:t>
            </a:r>
            <a:r>
              <a:rPr lang="es-ES" sz="2500" spc="-5" dirty="0">
                <a:latin typeface="+mj-lt"/>
                <a:ea typeface="Calibri"/>
              </a:rPr>
              <a:t>. </a:t>
            </a:r>
            <a:br>
              <a:rPr lang="es-ES" sz="2500" spc="-5" dirty="0">
                <a:latin typeface="+mj-lt"/>
                <a:cs typeface="Lucida Sans"/>
              </a:rPr>
            </a:br>
            <a:endParaRPr lang="en-US" b="0">
              <a:latin typeface="+mj-lt"/>
              <a:ea typeface="Calibri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03FA69DB-9F2C-56FC-1477-E10C141CB5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5383E602-E812-9E2C-3E3D-11F2DB64EA8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2880414-4672-4915-5446-C4FD59138CA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1663897-7D09-9A7D-5AEE-769BFB9206A7}"/>
              </a:ext>
            </a:extLst>
          </p:cNvPr>
          <p:cNvSpPr txBox="1"/>
          <p:nvPr/>
        </p:nvSpPr>
        <p:spPr>
          <a:xfrm>
            <a:off x="613027" y="4723345"/>
            <a:ext cx="11192914" cy="1600438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400" dirty="0">
                <a:ea typeface="+mn-lt"/>
                <a:cs typeface="+mn-lt"/>
              </a:rPr>
              <a:t>En </a:t>
            </a:r>
            <a:r>
              <a:rPr lang="en-US" sz="1400" dirty="0" err="1">
                <a:ea typeface="+mn-lt"/>
                <a:cs typeface="+mn-lt"/>
              </a:rPr>
              <a:t>este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apartado</a:t>
            </a:r>
            <a:r>
              <a:rPr lang="en-US" sz="1400" dirty="0">
                <a:ea typeface="+mn-lt"/>
                <a:cs typeface="+mn-lt"/>
              </a:rPr>
              <a:t> extra </a:t>
            </a:r>
            <a:r>
              <a:rPr lang="en-US" sz="1400" dirty="0" err="1">
                <a:ea typeface="+mn-lt"/>
                <a:cs typeface="+mn-lt"/>
              </a:rPr>
              <a:t>hemos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analizado</a:t>
            </a:r>
            <a:r>
              <a:rPr lang="en-US" sz="1400" dirty="0">
                <a:ea typeface="+mn-lt"/>
                <a:cs typeface="+mn-lt"/>
              </a:rPr>
              <a:t> la </a:t>
            </a:r>
            <a:r>
              <a:rPr lang="en-US" sz="1400" dirty="0" err="1">
                <a:ea typeface="+mn-lt"/>
                <a:cs typeface="+mn-lt"/>
              </a:rPr>
              <a:t>tecnología</a:t>
            </a:r>
            <a:r>
              <a:rPr lang="en-US" sz="1400" dirty="0">
                <a:ea typeface="+mn-lt"/>
                <a:cs typeface="+mn-lt"/>
              </a:rPr>
              <a:t> SOI y </a:t>
            </a:r>
            <a:r>
              <a:rPr lang="en-US" sz="1400" dirty="0" err="1">
                <a:ea typeface="+mn-lt"/>
                <a:cs typeface="+mn-lt"/>
              </a:rPr>
              <a:t>hemos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comprobado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, al </a:t>
            </a:r>
            <a:r>
              <a:rPr lang="en-US" sz="1400" dirty="0" err="1">
                <a:ea typeface="+mn-lt"/>
                <a:cs typeface="+mn-lt"/>
              </a:rPr>
              <a:t>igual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pasaba</a:t>
            </a:r>
            <a:r>
              <a:rPr lang="en-US" sz="1400" dirty="0">
                <a:ea typeface="+mn-lt"/>
                <a:cs typeface="+mn-lt"/>
              </a:rPr>
              <a:t> con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nitruro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índice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efectivo</a:t>
            </a:r>
            <a:r>
              <a:rPr lang="en-US" sz="1400" dirty="0">
                <a:ea typeface="+mn-lt"/>
                <a:cs typeface="+mn-lt"/>
              </a:rPr>
              <a:t> (</a:t>
            </a:r>
            <a:r>
              <a:rPr lang="en-US" sz="1400" dirty="0" err="1">
                <a:ea typeface="+mn-lt"/>
                <a:cs typeface="+mn-lt"/>
              </a:rPr>
              <a:t>neff</a:t>
            </a:r>
            <a:r>
              <a:rPr lang="en-US" sz="1400" dirty="0">
                <a:ea typeface="+mn-lt"/>
                <a:cs typeface="+mn-lt"/>
              </a:rPr>
              <a:t> ) baja </a:t>
            </a:r>
            <a:r>
              <a:rPr lang="en-US" sz="1400" dirty="0" err="1">
                <a:ea typeface="+mn-lt"/>
                <a:cs typeface="+mn-lt"/>
              </a:rPr>
              <a:t>ligeramente</a:t>
            </a:r>
            <a:r>
              <a:rPr lang="en-US" sz="1400" dirty="0">
                <a:ea typeface="+mn-lt"/>
                <a:cs typeface="+mn-lt"/>
              </a:rPr>
              <a:t> al </a:t>
            </a:r>
            <a:r>
              <a:rPr lang="en-US" sz="1400" dirty="0" err="1">
                <a:ea typeface="+mn-lt"/>
                <a:cs typeface="+mn-lt"/>
              </a:rPr>
              <a:t>aumentar</a:t>
            </a:r>
            <a:r>
              <a:rPr lang="en-US" sz="1400" dirty="0">
                <a:ea typeface="+mn-lt"/>
                <a:cs typeface="+mn-lt"/>
              </a:rPr>
              <a:t> la </a:t>
            </a:r>
            <a:r>
              <a:rPr lang="en-US" sz="1400" dirty="0" err="1">
                <a:ea typeface="+mn-lt"/>
                <a:cs typeface="+mn-lt"/>
              </a:rPr>
              <a:t>longitud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onda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confirmando</a:t>
            </a:r>
            <a:r>
              <a:rPr lang="en-US" sz="1400" dirty="0">
                <a:ea typeface="+mn-lt"/>
                <a:cs typeface="+mn-lt"/>
              </a:rPr>
              <a:t> la </a:t>
            </a:r>
            <a:r>
              <a:rPr lang="en-US" sz="1400" dirty="0" err="1">
                <a:ea typeface="+mn-lt"/>
                <a:cs typeface="+mn-lt"/>
              </a:rPr>
              <a:t>dispersión</a:t>
            </a:r>
            <a:r>
              <a:rPr lang="en-US" sz="1400" dirty="0">
                <a:ea typeface="+mn-lt"/>
                <a:cs typeface="+mn-lt"/>
              </a:rPr>
              <a:t> normal. Sin embargo, la gran </a:t>
            </a:r>
            <a:r>
              <a:rPr lang="en-US" sz="1400" dirty="0" err="1">
                <a:ea typeface="+mn-lt"/>
                <a:cs typeface="+mn-lt"/>
              </a:rPr>
              <a:t>diferencia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salta</a:t>
            </a:r>
            <a:r>
              <a:rPr lang="en-US" sz="1400" dirty="0">
                <a:ea typeface="+mn-lt"/>
                <a:cs typeface="+mn-lt"/>
              </a:rPr>
              <a:t> a la vista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estas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gráficas</a:t>
            </a:r>
            <a:r>
              <a:rPr lang="en-US" sz="1400" dirty="0">
                <a:ea typeface="+mn-lt"/>
                <a:cs typeface="+mn-lt"/>
              </a:rPr>
              <a:t> es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los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valores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neff</a:t>
            </a:r>
            <a:r>
              <a:rPr lang="en-US" sz="1400" dirty="0">
                <a:ea typeface="+mn-lt"/>
                <a:cs typeface="+mn-lt"/>
              </a:rPr>
              <a:t>  son </a:t>
            </a:r>
            <a:r>
              <a:rPr lang="en-US" sz="1400" dirty="0" err="1">
                <a:ea typeface="+mn-lt"/>
                <a:cs typeface="+mn-lt"/>
              </a:rPr>
              <a:t>muchísimo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más</a:t>
            </a:r>
            <a:r>
              <a:rPr lang="en-US" sz="1400" dirty="0">
                <a:ea typeface="+mn-lt"/>
                <a:cs typeface="+mn-lt"/>
              </a:rPr>
              <a:t> altos (</a:t>
            </a:r>
            <a:r>
              <a:rPr lang="en-US" sz="1400" dirty="0" err="1">
                <a:ea typeface="+mn-lt"/>
                <a:cs typeface="+mn-lt"/>
              </a:rPr>
              <a:t>rondando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2.4 para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modo fundamental). Esto </a:t>
            </a:r>
            <a:r>
              <a:rPr lang="en-US" sz="1400" dirty="0" err="1">
                <a:ea typeface="+mn-lt"/>
                <a:cs typeface="+mn-lt"/>
              </a:rPr>
              <a:t>ocurre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por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altísimo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contraste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índice</a:t>
            </a:r>
            <a:r>
              <a:rPr lang="en-US" sz="1400" dirty="0">
                <a:ea typeface="+mn-lt"/>
                <a:cs typeface="+mn-lt"/>
              </a:rPr>
              <a:t> entre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núcleo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silicio</a:t>
            </a:r>
            <a:r>
              <a:rPr lang="en-US" sz="1400" dirty="0">
                <a:ea typeface="+mn-lt"/>
                <a:cs typeface="+mn-lt"/>
              </a:rPr>
              <a:t> puro y la </a:t>
            </a:r>
            <a:r>
              <a:rPr lang="en-US" sz="1400" dirty="0" err="1">
                <a:ea typeface="+mn-lt"/>
                <a:cs typeface="+mn-lt"/>
              </a:rPr>
              <a:t>cubierta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óxido</a:t>
            </a:r>
            <a:r>
              <a:rPr lang="en-US" sz="1400" dirty="0">
                <a:ea typeface="+mn-lt"/>
                <a:cs typeface="+mn-lt"/>
              </a:rPr>
              <a:t>, lo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provoca</a:t>
            </a:r>
            <a:r>
              <a:rPr lang="en-US" sz="1400" dirty="0">
                <a:ea typeface="+mn-lt"/>
                <a:cs typeface="+mn-lt"/>
              </a:rPr>
              <a:t> un </a:t>
            </a:r>
            <a:r>
              <a:rPr lang="en-US" sz="1400" dirty="0" err="1">
                <a:ea typeface="+mn-lt"/>
                <a:cs typeface="+mn-lt"/>
              </a:rPr>
              <a:t>confinamiento</a:t>
            </a:r>
            <a:r>
              <a:rPr lang="en-US" sz="1400" dirty="0">
                <a:ea typeface="+mn-lt"/>
                <a:cs typeface="+mn-lt"/>
              </a:rPr>
              <a:t> bestial de la luz </a:t>
            </a:r>
            <a:r>
              <a:rPr lang="en-US" sz="1400" dirty="0" err="1">
                <a:ea typeface="+mn-lt"/>
                <a:cs typeface="+mn-lt"/>
              </a:rPr>
              <a:t>dentro</a:t>
            </a:r>
            <a:r>
              <a:rPr lang="en-US" sz="1400" dirty="0">
                <a:ea typeface="+mn-lt"/>
                <a:cs typeface="+mn-lt"/>
              </a:rPr>
              <a:t> de la </a:t>
            </a:r>
            <a:r>
              <a:rPr lang="en-US" sz="1400" dirty="0" err="1">
                <a:ea typeface="+mn-lt"/>
                <a:cs typeface="+mn-lt"/>
              </a:rPr>
              <a:t>guía</a:t>
            </a:r>
            <a:r>
              <a:rPr lang="en-US" sz="1400" dirty="0">
                <a:ea typeface="+mn-lt"/>
                <a:cs typeface="+mn-lt"/>
              </a:rPr>
              <a:t>. Al </a:t>
            </a:r>
            <a:r>
              <a:rPr lang="en-US" sz="1400" dirty="0" err="1">
                <a:ea typeface="+mn-lt"/>
                <a:cs typeface="+mn-lt"/>
              </a:rPr>
              <a:t>comparar</a:t>
            </a:r>
            <a:r>
              <a:rPr lang="en-US" sz="1400" dirty="0">
                <a:ea typeface="+mn-lt"/>
                <a:cs typeface="+mn-lt"/>
              </a:rPr>
              <a:t> la </a:t>
            </a:r>
            <a:r>
              <a:rPr lang="en-US" sz="1400" dirty="0" err="1">
                <a:ea typeface="+mn-lt"/>
                <a:cs typeface="+mn-lt"/>
              </a:rPr>
              <a:t>guía</a:t>
            </a:r>
            <a:r>
              <a:rPr lang="en-US" sz="1400" dirty="0">
                <a:ea typeface="+mn-lt"/>
                <a:cs typeface="+mn-lt"/>
              </a:rPr>
              <a:t> deep (de 220x500 nm) con la shallow, </a:t>
            </a:r>
            <a:r>
              <a:rPr lang="en-US" sz="1400" dirty="0" err="1">
                <a:ea typeface="+mn-lt"/>
                <a:cs typeface="+mn-lt"/>
              </a:rPr>
              <a:t>observamos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la shallow </a:t>
            </a:r>
            <a:r>
              <a:rPr lang="en-US" sz="1400" dirty="0" err="1">
                <a:ea typeface="+mn-lt"/>
                <a:cs typeface="+mn-lt"/>
              </a:rPr>
              <a:t>los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valores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neff</a:t>
            </a:r>
            <a:r>
              <a:rPr lang="en-US" sz="1400" dirty="0">
                <a:ea typeface="+mn-lt"/>
                <a:cs typeface="+mn-lt"/>
              </a:rPr>
              <a:t>  son </a:t>
            </a:r>
            <a:r>
              <a:rPr lang="en-US" sz="1400" dirty="0" err="1">
                <a:ea typeface="+mn-lt"/>
                <a:cs typeface="+mn-lt"/>
              </a:rPr>
              <a:t>aún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mayores</a:t>
            </a:r>
            <a:r>
              <a:rPr lang="en-US" sz="1400" dirty="0">
                <a:ea typeface="+mn-lt"/>
                <a:cs typeface="+mn-lt"/>
              </a:rPr>
              <a:t>; </a:t>
            </a:r>
            <a:r>
              <a:rPr lang="en-US" sz="1400" dirty="0" err="1">
                <a:ea typeface="+mn-lt"/>
                <a:cs typeface="+mn-lt"/>
              </a:rPr>
              <a:t>esto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tiene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sentido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porque</a:t>
            </a:r>
            <a:r>
              <a:rPr lang="en-US" sz="1400" dirty="0">
                <a:ea typeface="+mn-lt"/>
                <a:cs typeface="+mn-lt"/>
              </a:rPr>
              <a:t> la </a:t>
            </a:r>
            <a:r>
              <a:rPr lang="en-US" sz="1400" dirty="0" err="1">
                <a:ea typeface="+mn-lt"/>
                <a:cs typeface="+mn-lt"/>
              </a:rPr>
              <a:t>capa</a:t>
            </a:r>
            <a:r>
              <a:rPr lang="en-US" sz="1400" dirty="0">
                <a:ea typeface="+mn-lt"/>
                <a:cs typeface="+mn-lt"/>
              </a:rPr>
              <a:t> base de </a:t>
            </a:r>
            <a:r>
              <a:rPr lang="en-US" sz="1400" dirty="0" err="1">
                <a:ea typeface="+mn-lt"/>
                <a:cs typeface="+mn-lt"/>
              </a:rPr>
              <a:t>silicio</a:t>
            </a:r>
            <a:r>
              <a:rPr lang="en-US" sz="1400" dirty="0">
                <a:ea typeface="+mn-lt"/>
                <a:cs typeface="+mn-lt"/>
              </a:rPr>
              <a:t> (</a:t>
            </a:r>
            <a:r>
              <a:rPr lang="en-US" sz="1400" i="1" dirty="0" err="1">
                <a:ea typeface="+mn-lt"/>
                <a:cs typeface="+mn-lt"/>
              </a:rPr>
              <a:t>el</a:t>
            </a:r>
            <a:r>
              <a:rPr lang="en-US" sz="1400" i="1" dirty="0">
                <a:ea typeface="+mn-lt"/>
                <a:cs typeface="+mn-lt"/>
              </a:rPr>
              <a:t> slab</a:t>
            </a:r>
            <a:r>
              <a:rPr lang="en-US" sz="1400" dirty="0">
                <a:ea typeface="+mn-lt"/>
                <a:cs typeface="+mn-lt"/>
              </a:rPr>
              <a:t>) le da un '</a:t>
            </a:r>
            <a:r>
              <a:rPr lang="en-US" sz="1400" dirty="0" err="1">
                <a:ea typeface="+mn-lt"/>
                <a:cs typeface="+mn-lt"/>
              </a:rPr>
              <a:t>apoyo</a:t>
            </a:r>
            <a:r>
              <a:rPr lang="en-US" sz="1400" dirty="0">
                <a:ea typeface="+mn-lt"/>
                <a:cs typeface="+mn-lt"/>
              </a:rPr>
              <a:t>' extra al modo, </a:t>
            </a:r>
            <a:r>
              <a:rPr lang="en-US" sz="1400" dirty="0" err="1">
                <a:ea typeface="+mn-lt"/>
                <a:cs typeface="+mn-lt"/>
              </a:rPr>
              <a:t>aumentando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su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confinamiento</a:t>
            </a:r>
            <a:r>
              <a:rPr lang="en-US" sz="1400" dirty="0">
                <a:ea typeface="+mn-lt"/>
                <a:cs typeface="+mn-lt"/>
              </a:rPr>
              <a:t>. En </a:t>
            </a:r>
            <a:r>
              <a:rPr lang="en-US" sz="1400" dirty="0" err="1">
                <a:ea typeface="+mn-lt"/>
                <a:cs typeface="+mn-lt"/>
              </a:rPr>
              <a:t>definitiva</a:t>
            </a:r>
            <a:r>
              <a:rPr lang="en-US" sz="1400" dirty="0">
                <a:ea typeface="+mn-lt"/>
                <a:cs typeface="+mn-lt"/>
              </a:rPr>
              <a:t>, ambas </a:t>
            </a:r>
            <a:r>
              <a:rPr lang="en-US" sz="1400" dirty="0" err="1">
                <a:ea typeface="+mn-lt"/>
                <a:cs typeface="+mn-lt"/>
              </a:rPr>
              <a:t>estructuras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guían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perfectamente</a:t>
            </a:r>
            <a:r>
              <a:rPr lang="en-US" sz="1400" dirty="0">
                <a:ea typeface="+mn-lt"/>
                <a:cs typeface="+mn-lt"/>
              </a:rPr>
              <a:t> la luz con </a:t>
            </a:r>
            <a:r>
              <a:rPr lang="en-US" sz="1400" dirty="0" err="1">
                <a:ea typeface="+mn-lt"/>
                <a:cs typeface="+mn-lt"/>
              </a:rPr>
              <a:t>una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caída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casi</a:t>
            </a:r>
            <a:r>
              <a:rPr lang="en-US" sz="1400" dirty="0">
                <a:ea typeface="+mn-lt"/>
                <a:cs typeface="+mn-lt"/>
              </a:rPr>
              <a:t> lineal </a:t>
            </a:r>
            <a:r>
              <a:rPr lang="en-US" sz="1400" dirty="0" err="1">
                <a:ea typeface="+mn-lt"/>
                <a:cs typeface="+mn-lt"/>
              </a:rPr>
              <a:t>frente</a:t>
            </a:r>
            <a:r>
              <a:rPr lang="en-US" sz="1400" dirty="0">
                <a:ea typeface="+mn-lt"/>
                <a:cs typeface="+mn-lt"/>
              </a:rPr>
              <a:t> a la </a:t>
            </a:r>
            <a:r>
              <a:rPr lang="en-US" sz="1400" dirty="0" err="1">
                <a:ea typeface="+mn-lt"/>
                <a:cs typeface="+mn-lt"/>
              </a:rPr>
              <a:t>longitud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onda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pero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SOI </a:t>
            </a:r>
            <a:r>
              <a:rPr lang="en-US" sz="1400" dirty="0" err="1">
                <a:ea typeface="+mn-lt"/>
                <a:cs typeface="+mn-lt"/>
              </a:rPr>
              <a:t>confina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mucho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más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fuerte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nitruro</a:t>
            </a:r>
            <a:r>
              <a:rPr lang="en-US" sz="1400" dirty="0">
                <a:ea typeface="+mn-lt"/>
                <a:cs typeface="+mn-lt"/>
              </a:rPr>
              <a:t>.</a:t>
            </a:r>
            <a:endParaRPr lang="es-ES" sz="14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EF6F03E-E140-FD30-32F8-452B120BAA64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4969A79-8725-217A-A090-D59E5663C6DF}"/>
              </a:ext>
            </a:extLst>
          </p:cNvPr>
          <p:cNvSpPr/>
          <p:nvPr/>
        </p:nvSpPr>
        <p:spPr>
          <a:xfrm>
            <a:off x="64768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 descr="Gráfico&#10;&#10;El contenido generado por IA puede ser incorrecto.">
            <a:extLst>
              <a:ext uri="{FF2B5EF4-FFF2-40B4-BE49-F238E27FC236}">
                <a16:creationId xmlns:a16="http://schemas.microsoft.com/office/drawing/2014/main" id="{FC191902-72FE-E0E2-7F2B-8A7F3E31F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931" y="1569051"/>
            <a:ext cx="5251623" cy="3143250"/>
          </a:xfrm>
          <a:prstGeom prst="rect">
            <a:avLst/>
          </a:prstGeom>
        </p:spPr>
      </p:pic>
      <p:pic>
        <p:nvPicPr>
          <p:cNvPr id="8" name="Imagen 7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BA97002E-6020-16D4-7A71-374E5C0B08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851" y="1569051"/>
            <a:ext cx="5179542" cy="2988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109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FB8D2-4A7B-A29F-7362-BA2C7927D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73EAC11E-5C10-343A-EFCA-08E1DA83F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17981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500">
                <a:solidFill>
                  <a:srgbClr val="000000"/>
                </a:solidFill>
                <a:ea typeface="Calibri"/>
              </a:rPr>
              <a:t>EXTRA2:Repeat the LO.3. width dependence analysis, now sweeping in a 300nm - 1um range. </a:t>
            </a:r>
            <a:endParaRPr lang="es-ES">
              <a:solidFill>
                <a:srgbClr val="000000"/>
              </a:solidFill>
              <a:ea typeface="Calibri"/>
            </a:endParaRPr>
          </a:p>
          <a:p>
            <a:pPr marL="12700">
              <a:spcBef>
                <a:spcPts val="100"/>
              </a:spcBef>
            </a:pPr>
            <a:endParaRPr lang="en-US" sz="2500" dirty="0">
              <a:solidFill>
                <a:srgbClr val="000000"/>
              </a:solidFill>
              <a:ea typeface="Calibri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A44D159A-CB80-D72C-AE57-A629B836DB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CCE264FA-2D88-8C6E-2AD2-ADBA0B59A8E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0B2306C-088B-7EC9-6EC0-6DFB828E525E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621C1C7-44B9-4A5A-41A2-CDF79EDA76A5}"/>
              </a:ext>
            </a:extLst>
          </p:cNvPr>
          <p:cNvSpPr txBox="1"/>
          <p:nvPr/>
        </p:nvSpPr>
        <p:spPr>
          <a:xfrm>
            <a:off x="609441" y="4691088"/>
            <a:ext cx="11096844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200" dirty="0">
                <a:ea typeface="+mn-lt"/>
                <a:cs typeface="+mn-lt"/>
              </a:rPr>
              <a:t>En la </a:t>
            </a:r>
            <a:r>
              <a:rPr lang="en-US" sz="1200" dirty="0" err="1">
                <a:ea typeface="+mn-lt"/>
                <a:cs typeface="+mn-lt"/>
              </a:rPr>
              <a:t>gráfica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vemos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cómo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varían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los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índices</a:t>
            </a:r>
            <a:r>
              <a:rPr lang="en-US" sz="1200" dirty="0">
                <a:ea typeface="+mn-lt"/>
                <a:cs typeface="+mn-lt"/>
              </a:rPr>
              <a:t> de </a:t>
            </a:r>
            <a:r>
              <a:rPr lang="en-US" sz="1200" dirty="0" err="1">
                <a:ea typeface="+mn-lt"/>
                <a:cs typeface="+mn-lt"/>
              </a:rPr>
              <a:t>los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modos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en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función</a:t>
            </a:r>
            <a:r>
              <a:rPr lang="en-US" sz="1200" dirty="0">
                <a:ea typeface="+mn-lt"/>
                <a:cs typeface="+mn-lt"/>
              </a:rPr>
              <a:t> del ancho de la </a:t>
            </a:r>
            <a:r>
              <a:rPr lang="en-US" sz="1200" dirty="0" err="1">
                <a:ea typeface="+mn-lt"/>
                <a:cs typeface="+mn-lt"/>
              </a:rPr>
              <a:t>guía</a:t>
            </a:r>
            <a:r>
              <a:rPr lang="en-US" sz="1200" dirty="0">
                <a:ea typeface="+mn-lt"/>
                <a:cs typeface="+mn-lt"/>
              </a:rPr>
              <a:t> de </a:t>
            </a:r>
            <a:r>
              <a:rPr lang="en-US" sz="1200" dirty="0" err="1">
                <a:ea typeface="+mn-lt"/>
                <a:cs typeface="+mn-lt"/>
              </a:rPr>
              <a:t>silicio</a:t>
            </a:r>
            <a:r>
              <a:rPr lang="en-US" sz="1200" dirty="0">
                <a:ea typeface="+mn-lt"/>
                <a:cs typeface="+mn-lt"/>
              </a:rPr>
              <a:t>. Para </a:t>
            </a:r>
            <a:r>
              <a:rPr lang="en-US" sz="1200" dirty="0" err="1">
                <a:ea typeface="+mn-lt"/>
                <a:cs typeface="+mn-lt"/>
              </a:rPr>
              <a:t>valores</a:t>
            </a:r>
            <a:r>
              <a:rPr lang="en-US" sz="1200" dirty="0">
                <a:ea typeface="+mn-lt"/>
                <a:cs typeface="+mn-lt"/>
              </a:rPr>
              <a:t> de ancho </a:t>
            </a:r>
            <a:r>
              <a:rPr lang="en-US" sz="1200" dirty="0" err="1">
                <a:ea typeface="+mn-lt"/>
                <a:cs typeface="+mn-lt"/>
              </a:rPr>
              <a:t>muy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pequeños</a:t>
            </a:r>
            <a:r>
              <a:rPr lang="en-US" sz="1200" dirty="0">
                <a:ea typeface="+mn-lt"/>
                <a:cs typeface="+mn-lt"/>
              </a:rPr>
              <a:t>, 300nm, se </a:t>
            </a:r>
            <a:r>
              <a:rPr lang="en-US" sz="1200" dirty="0" err="1">
                <a:ea typeface="+mn-lt"/>
                <a:cs typeface="+mn-lt"/>
              </a:rPr>
              <a:t>propagan</a:t>
            </a:r>
            <a:r>
              <a:rPr lang="en-US" sz="1200" dirty="0">
                <a:ea typeface="+mn-lt"/>
                <a:cs typeface="+mn-lt"/>
              </a:rPr>
              <a:t> 2 </a:t>
            </a:r>
            <a:r>
              <a:rPr lang="en-US" sz="1200" dirty="0" err="1">
                <a:ea typeface="+mn-lt"/>
                <a:cs typeface="+mn-lt"/>
              </a:rPr>
              <a:t>modos</a:t>
            </a:r>
            <a:r>
              <a:rPr lang="en-US" sz="1200" dirty="0">
                <a:ea typeface="+mn-lt"/>
                <a:cs typeface="+mn-lt"/>
              </a:rPr>
              <a:t> (</a:t>
            </a:r>
            <a:r>
              <a:rPr lang="en-US" sz="1200" dirty="0" err="1">
                <a:ea typeface="+mn-lt"/>
                <a:cs typeface="+mn-lt"/>
              </a:rPr>
              <a:t>el</a:t>
            </a:r>
            <a:r>
              <a:rPr lang="en-US" sz="1200" dirty="0">
                <a:ea typeface="+mn-lt"/>
                <a:cs typeface="+mn-lt"/>
              </a:rPr>
              <a:t> TE y </a:t>
            </a:r>
            <a:r>
              <a:rPr lang="en-US" sz="1200" dirty="0" err="1">
                <a:ea typeface="+mn-lt"/>
                <a:cs typeface="+mn-lt"/>
              </a:rPr>
              <a:t>el</a:t>
            </a:r>
            <a:r>
              <a:rPr lang="en-US" sz="1200" dirty="0">
                <a:ea typeface="+mn-lt"/>
                <a:cs typeface="+mn-lt"/>
              </a:rPr>
              <a:t> TM), </a:t>
            </a:r>
            <a:r>
              <a:rPr lang="en-US" sz="1200" dirty="0" err="1">
                <a:ea typeface="+mn-lt"/>
                <a:cs typeface="+mn-lt"/>
              </a:rPr>
              <a:t>el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tercer</a:t>
            </a:r>
            <a:r>
              <a:rPr lang="en-US" sz="1200" dirty="0">
                <a:ea typeface="+mn-lt"/>
                <a:cs typeface="+mn-lt"/>
              </a:rPr>
              <a:t> y </a:t>
            </a:r>
            <a:r>
              <a:rPr lang="en-US" sz="1200" dirty="0" err="1">
                <a:ea typeface="+mn-lt"/>
                <a:cs typeface="+mn-lt"/>
              </a:rPr>
              <a:t>cuarto</a:t>
            </a:r>
            <a:r>
              <a:rPr lang="en-US" sz="1200" dirty="0">
                <a:ea typeface="+mn-lt"/>
                <a:cs typeface="+mn-lt"/>
              </a:rPr>
              <a:t> modo no </a:t>
            </a:r>
            <a:r>
              <a:rPr lang="en-US" sz="1200" dirty="0" err="1">
                <a:ea typeface="+mn-lt"/>
                <a:cs typeface="+mn-lt"/>
              </a:rPr>
              <a:t>existen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aún</a:t>
            </a:r>
            <a:r>
              <a:rPr lang="en-US" sz="1200" dirty="0">
                <a:ea typeface="+mn-lt"/>
                <a:cs typeface="+mn-lt"/>
              </a:rPr>
              <a:t>. Conforme </a:t>
            </a:r>
            <a:r>
              <a:rPr lang="en-US" sz="1200" dirty="0" err="1">
                <a:ea typeface="+mn-lt"/>
                <a:cs typeface="+mn-lt"/>
              </a:rPr>
              <a:t>vamos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subiendo</a:t>
            </a:r>
            <a:r>
              <a:rPr lang="en-US" sz="1200" dirty="0">
                <a:ea typeface="+mn-lt"/>
                <a:cs typeface="+mn-lt"/>
              </a:rPr>
              <a:t>, </a:t>
            </a:r>
            <a:r>
              <a:rPr lang="en-US" sz="1200" dirty="0" err="1">
                <a:ea typeface="+mn-lt"/>
                <a:cs typeface="+mn-lt"/>
              </a:rPr>
              <a:t>el</a:t>
            </a:r>
            <a:r>
              <a:rPr lang="en-US" sz="1200" dirty="0">
                <a:ea typeface="+mn-lt"/>
                <a:cs typeface="+mn-lt"/>
              </a:rPr>
              <a:t> modo TE1 se </a:t>
            </a:r>
            <a:r>
              <a:rPr lang="en-US" sz="1200" dirty="0" err="1">
                <a:ea typeface="+mn-lt"/>
                <a:cs typeface="+mn-lt"/>
              </a:rPr>
              <a:t>empieza</a:t>
            </a:r>
            <a:r>
              <a:rPr lang="en-US" sz="1200" dirty="0">
                <a:ea typeface="+mn-lt"/>
                <a:cs typeface="+mn-lt"/>
              </a:rPr>
              <a:t> a </a:t>
            </a:r>
            <a:r>
              <a:rPr lang="en-US" sz="1200" dirty="0" err="1">
                <a:ea typeface="+mn-lt"/>
                <a:cs typeface="+mn-lt"/>
              </a:rPr>
              <a:t>propagar</a:t>
            </a:r>
            <a:r>
              <a:rPr lang="en-US" sz="1200" dirty="0">
                <a:ea typeface="+mn-lt"/>
                <a:cs typeface="+mn-lt"/>
              </a:rPr>
              <a:t> y no es hasta </a:t>
            </a:r>
            <a:r>
              <a:rPr lang="en-US" sz="1200" dirty="0" err="1">
                <a:ea typeface="+mn-lt"/>
                <a:cs typeface="+mn-lt"/>
              </a:rPr>
              <a:t>alrededor</a:t>
            </a:r>
            <a:r>
              <a:rPr lang="en-US" sz="1200" dirty="0">
                <a:ea typeface="+mn-lt"/>
                <a:cs typeface="+mn-lt"/>
              </a:rPr>
              <a:t> de 600nm </a:t>
            </a:r>
            <a:r>
              <a:rPr lang="en-US" sz="1200" dirty="0" err="1">
                <a:ea typeface="+mn-lt"/>
                <a:cs typeface="+mn-lt"/>
              </a:rPr>
              <a:t>cuando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el</a:t>
            </a:r>
            <a:r>
              <a:rPr lang="en-US" sz="1200" dirty="0">
                <a:ea typeface="+mn-lt"/>
                <a:cs typeface="+mn-lt"/>
              </a:rPr>
              <a:t>  modo TM1 se </a:t>
            </a:r>
            <a:r>
              <a:rPr lang="en-US" sz="1200" dirty="0" err="1">
                <a:ea typeface="+mn-lt"/>
                <a:cs typeface="+mn-lt"/>
              </a:rPr>
              <a:t>empieza</a:t>
            </a:r>
            <a:r>
              <a:rPr lang="en-US" sz="1200" dirty="0">
                <a:ea typeface="+mn-lt"/>
                <a:cs typeface="+mn-lt"/>
              </a:rPr>
              <a:t> a </a:t>
            </a:r>
            <a:r>
              <a:rPr lang="en-US" sz="1200" dirty="0" err="1">
                <a:ea typeface="+mn-lt"/>
                <a:cs typeface="+mn-lt"/>
              </a:rPr>
              <a:t>propagar</a:t>
            </a:r>
            <a:r>
              <a:rPr lang="en-US" sz="1200" dirty="0">
                <a:ea typeface="+mn-lt"/>
                <a:cs typeface="+mn-lt"/>
              </a:rPr>
              <a:t>. </a:t>
            </a:r>
            <a:r>
              <a:rPr lang="en-US" sz="1200" dirty="0" err="1">
                <a:ea typeface="+mn-lt"/>
                <a:cs typeface="+mn-lt"/>
              </a:rPr>
              <a:t>Además</a:t>
            </a:r>
            <a:r>
              <a:rPr lang="en-US" sz="1200" dirty="0">
                <a:ea typeface="+mn-lt"/>
                <a:cs typeface="+mn-lt"/>
              </a:rPr>
              <a:t>, </a:t>
            </a:r>
            <a:r>
              <a:rPr lang="en-US" sz="1200" dirty="0" err="1">
                <a:ea typeface="+mn-lt"/>
                <a:cs typeface="+mn-lt"/>
              </a:rPr>
              <a:t>vemos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que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en</a:t>
            </a:r>
            <a:r>
              <a:rPr lang="en-US" sz="1200" dirty="0">
                <a:ea typeface="+mn-lt"/>
                <a:cs typeface="+mn-lt"/>
              </a:rPr>
              <a:t> 900nm hay un </a:t>
            </a:r>
            <a:r>
              <a:rPr lang="en-US" sz="1200" dirty="0" err="1">
                <a:ea typeface="+mn-lt"/>
                <a:cs typeface="+mn-lt"/>
              </a:rPr>
              <a:t>mo</a:t>
            </a:r>
            <a:r>
              <a:rPr lang="en-US" sz="1200" dirty="0">
                <a:ea typeface="+mn-lt"/>
                <a:cs typeface="+mn-lt"/>
              </a:rPr>
              <a:t>do TE </a:t>
            </a:r>
            <a:r>
              <a:rPr lang="en-US" sz="1200" dirty="0" err="1">
                <a:ea typeface="+mn-lt"/>
                <a:cs typeface="+mn-lt"/>
              </a:rPr>
              <a:t>que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adelanta</a:t>
            </a:r>
            <a:r>
              <a:rPr lang="en-US" sz="1200" dirty="0">
                <a:ea typeface="+mn-lt"/>
                <a:cs typeface="+mn-lt"/>
              </a:rPr>
              <a:t> a </a:t>
            </a:r>
            <a:r>
              <a:rPr lang="en-US" sz="1200" dirty="0" err="1">
                <a:ea typeface="+mn-lt"/>
                <a:cs typeface="+mn-lt"/>
              </a:rPr>
              <a:t>este</a:t>
            </a:r>
            <a:r>
              <a:rPr lang="en-US" sz="1200" dirty="0">
                <a:ea typeface="+mn-lt"/>
                <a:cs typeface="+mn-lt"/>
              </a:rPr>
              <a:t> modo TM </a:t>
            </a:r>
            <a:r>
              <a:rPr lang="en-US" sz="1200" dirty="0" err="1">
                <a:ea typeface="+mn-lt"/>
                <a:cs typeface="+mn-lt"/>
              </a:rPr>
              <a:t>que</a:t>
            </a:r>
            <a:r>
              <a:rPr lang="en-US" sz="1200" dirty="0">
                <a:ea typeface="+mn-lt"/>
                <a:cs typeface="+mn-lt"/>
              </a:rPr>
              <a:t> se </a:t>
            </a:r>
            <a:r>
              <a:rPr lang="en-US" sz="1200" dirty="0" err="1">
                <a:ea typeface="+mn-lt"/>
                <a:cs typeface="+mn-lt"/>
              </a:rPr>
              <a:t>estaba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propagando</a:t>
            </a:r>
            <a:r>
              <a:rPr lang="en-US" sz="1200" dirty="0">
                <a:ea typeface="+mn-lt"/>
                <a:cs typeface="+mn-lt"/>
              </a:rPr>
              <a:t> y es </a:t>
            </a:r>
            <a:r>
              <a:rPr lang="en-US" sz="1200" dirty="0" err="1">
                <a:ea typeface="+mn-lt"/>
                <a:cs typeface="+mn-lt"/>
              </a:rPr>
              <a:t>el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que</a:t>
            </a:r>
            <a:r>
              <a:rPr lang="en-US" sz="1200" dirty="0">
                <a:ea typeface="+mn-lt"/>
                <a:cs typeface="+mn-lt"/>
              </a:rPr>
              <a:t> se </a:t>
            </a:r>
            <a:r>
              <a:rPr lang="en-US" sz="1200" dirty="0" err="1">
                <a:ea typeface="+mn-lt"/>
                <a:cs typeface="+mn-lt"/>
              </a:rPr>
              <a:t>representa</a:t>
            </a:r>
            <a:r>
              <a:rPr lang="en-US" sz="1200" dirty="0">
                <a:ea typeface="+mn-lt"/>
                <a:cs typeface="+mn-lt"/>
              </a:rPr>
              <a:t>.</a:t>
            </a:r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Es </a:t>
            </a:r>
            <a:r>
              <a:rPr lang="en-US" sz="1200" dirty="0" err="1">
                <a:ea typeface="+mn-lt"/>
                <a:cs typeface="+mn-lt"/>
              </a:rPr>
              <a:t>muy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cla</a:t>
            </a:r>
            <a:r>
              <a:rPr lang="en-US" sz="1200" dirty="0">
                <a:ea typeface="+mn-lt"/>
                <a:cs typeface="+mn-lt"/>
              </a:rPr>
              <a:t>ro </a:t>
            </a:r>
            <a:r>
              <a:rPr lang="en-US" sz="1200" dirty="0" err="1">
                <a:ea typeface="+mn-lt"/>
                <a:cs typeface="+mn-lt"/>
              </a:rPr>
              <a:t>ver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cómo</a:t>
            </a:r>
            <a:r>
              <a:rPr lang="en-US" sz="1200" dirty="0">
                <a:ea typeface="+mn-lt"/>
                <a:cs typeface="+mn-lt"/>
              </a:rPr>
              <a:t> la </a:t>
            </a:r>
            <a:r>
              <a:rPr lang="en-US" sz="1200" dirty="0" err="1">
                <a:ea typeface="+mn-lt"/>
                <a:cs typeface="+mn-lt"/>
              </a:rPr>
              <a:t>variación</a:t>
            </a:r>
            <a:r>
              <a:rPr lang="en-US" sz="1200" dirty="0">
                <a:ea typeface="+mn-lt"/>
                <a:cs typeface="+mn-lt"/>
              </a:rPr>
              <a:t> del ancho de la </a:t>
            </a:r>
            <a:r>
              <a:rPr lang="en-US" sz="1200" dirty="0" err="1">
                <a:ea typeface="+mn-lt"/>
                <a:cs typeface="+mn-lt"/>
              </a:rPr>
              <a:t>guía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afecta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en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mucha</a:t>
            </a:r>
            <a:r>
              <a:rPr lang="en-US" sz="1200" dirty="0">
                <a:ea typeface="+mn-lt"/>
                <a:cs typeface="+mn-lt"/>
              </a:rPr>
              <a:t> mayor </a:t>
            </a:r>
            <a:r>
              <a:rPr lang="en-US" sz="1200" dirty="0" err="1">
                <a:ea typeface="+mn-lt"/>
                <a:cs typeface="+mn-lt"/>
              </a:rPr>
              <a:t>medida</a:t>
            </a:r>
            <a:r>
              <a:rPr lang="en-US" sz="1200" dirty="0">
                <a:ea typeface="+mn-lt"/>
                <a:cs typeface="+mn-lt"/>
              </a:rPr>
              <a:t> a </a:t>
            </a:r>
            <a:r>
              <a:rPr lang="en-US" sz="1200" dirty="0" err="1">
                <a:ea typeface="+mn-lt"/>
                <a:cs typeface="+mn-lt"/>
              </a:rPr>
              <a:t>los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modos</a:t>
            </a:r>
            <a:r>
              <a:rPr lang="en-US" sz="1200" dirty="0">
                <a:ea typeface="+mn-lt"/>
                <a:cs typeface="+mn-lt"/>
              </a:rPr>
              <a:t> TE </a:t>
            </a:r>
            <a:r>
              <a:rPr lang="en-US" sz="1200" dirty="0" err="1">
                <a:ea typeface="+mn-lt"/>
                <a:cs typeface="+mn-lt"/>
              </a:rPr>
              <a:t>por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su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comportamiento</a:t>
            </a:r>
            <a:r>
              <a:rPr lang="en-US" sz="1200" dirty="0">
                <a:ea typeface="+mn-lt"/>
                <a:cs typeface="+mn-lt"/>
              </a:rPr>
              <a:t>. No </a:t>
            </a:r>
            <a:r>
              <a:rPr lang="en-US" sz="1200" dirty="0" err="1">
                <a:ea typeface="+mn-lt"/>
                <a:cs typeface="+mn-lt"/>
              </a:rPr>
              <a:t>afecta</a:t>
            </a:r>
            <a:r>
              <a:rPr lang="en-US" sz="1200" dirty="0">
                <a:ea typeface="+mn-lt"/>
                <a:cs typeface="+mn-lt"/>
              </a:rPr>
              <a:t> "</a:t>
            </a:r>
            <a:r>
              <a:rPr lang="en-US" sz="1200" dirty="0" err="1">
                <a:ea typeface="+mn-lt"/>
                <a:cs typeface="+mn-lt"/>
              </a:rPr>
              <a:t>casi</a:t>
            </a:r>
            <a:r>
              <a:rPr lang="en-US" sz="1200" dirty="0">
                <a:ea typeface="+mn-lt"/>
                <a:cs typeface="+mn-lt"/>
              </a:rPr>
              <a:t>" nada a </a:t>
            </a:r>
            <a:r>
              <a:rPr lang="en-US" sz="1200" dirty="0" err="1">
                <a:ea typeface="+mn-lt"/>
                <a:cs typeface="+mn-lt"/>
              </a:rPr>
              <a:t>los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modos</a:t>
            </a:r>
            <a:r>
              <a:rPr lang="en-US" sz="1200" dirty="0">
                <a:ea typeface="+mn-lt"/>
                <a:cs typeface="+mn-lt"/>
              </a:rPr>
              <a:t> TM </a:t>
            </a:r>
            <a:r>
              <a:rPr lang="en-US" sz="1200" dirty="0" err="1">
                <a:ea typeface="+mn-lt"/>
                <a:cs typeface="+mn-lt"/>
              </a:rPr>
              <a:t>porque</a:t>
            </a:r>
            <a:r>
              <a:rPr lang="en-US" sz="1200" dirty="0">
                <a:ea typeface="+mn-lt"/>
                <a:cs typeface="+mn-lt"/>
              </a:rPr>
              <a:t> la </a:t>
            </a:r>
            <a:r>
              <a:rPr lang="en-US" sz="1200" dirty="0" err="1">
                <a:ea typeface="+mn-lt"/>
                <a:cs typeface="+mn-lt"/>
              </a:rPr>
              <a:t>altura</a:t>
            </a:r>
            <a:r>
              <a:rPr lang="en-US" sz="1200" dirty="0">
                <a:ea typeface="+mn-lt"/>
                <a:cs typeface="+mn-lt"/>
              </a:rPr>
              <a:t> la </a:t>
            </a:r>
            <a:r>
              <a:rPr lang="en-US" sz="1200" dirty="0" err="1">
                <a:ea typeface="+mn-lt"/>
                <a:cs typeface="+mn-lt"/>
              </a:rPr>
              <a:t>hemos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dejado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igual</a:t>
            </a:r>
            <a:r>
              <a:rPr lang="en-US" sz="1200" dirty="0">
                <a:ea typeface="+mn-lt"/>
                <a:cs typeface="+mn-lt"/>
              </a:rPr>
              <a:t>.</a:t>
            </a:r>
          </a:p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dirty="0">
                <a:ea typeface="+mn-lt"/>
                <a:cs typeface="+mn-lt"/>
              </a:rPr>
              <a:t>El modo TE0 no </a:t>
            </a:r>
            <a:r>
              <a:rPr lang="en-US" sz="1200" dirty="0" err="1">
                <a:ea typeface="+mn-lt"/>
                <a:cs typeface="+mn-lt"/>
              </a:rPr>
              <a:t>tiene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tanta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variación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porque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el</a:t>
            </a:r>
            <a:r>
              <a:rPr lang="en-US" sz="1200" dirty="0">
                <a:ea typeface="+mn-lt"/>
                <a:cs typeface="+mn-lt"/>
              </a:rPr>
              <a:t> modo </a:t>
            </a:r>
            <a:r>
              <a:rPr lang="en-US" sz="1200" dirty="0" err="1">
                <a:ea typeface="+mn-lt"/>
                <a:cs typeface="+mn-lt"/>
              </a:rPr>
              <a:t>ya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estaba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muy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confinado</a:t>
            </a:r>
            <a:r>
              <a:rPr lang="en-US" sz="1200" dirty="0">
                <a:ea typeface="+mn-lt"/>
                <a:cs typeface="+mn-lt"/>
              </a:rPr>
              <a:t>, da </a:t>
            </a:r>
            <a:r>
              <a:rPr lang="en-US" sz="1200" dirty="0" err="1">
                <a:ea typeface="+mn-lt"/>
                <a:cs typeface="+mn-lt"/>
              </a:rPr>
              <a:t>i</a:t>
            </a:r>
            <a:r>
              <a:rPr lang="en-US" sz="1200" dirty="0">
                <a:ea typeface="+mn-lt"/>
                <a:cs typeface="+mn-lt"/>
              </a:rPr>
              <a:t>gual lo </a:t>
            </a:r>
            <a:r>
              <a:rPr lang="en-US" sz="1200" dirty="0" err="1">
                <a:ea typeface="+mn-lt"/>
                <a:cs typeface="+mn-lt"/>
              </a:rPr>
              <a:t>mucho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que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hemos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ensanchado</a:t>
            </a:r>
            <a:r>
              <a:rPr lang="en-US" sz="1200" dirty="0">
                <a:ea typeface="+mn-lt"/>
                <a:cs typeface="+mn-lt"/>
              </a:rPr>
              <a:t> la </a:t>
            </a:r>
            <a:r>
              <a:rPr lang="en-US" sz="1200" dirty="0" err="1">
                <a:ea typeface="+mn-lt"/>
                <a:cs typeface="+mn-lt"/>
              </a:rPr>
              <a:t>guía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que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éste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ya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estaba</a:t>
            </a:r>
            <a:r>
              <a:rPr lang="en-US" sz="1200" dirty="0">
                <a:ea typeface="+mn-lt"/>
                <a:cs typeface="+mn-lt"/>
              </a:rPr>
              <a:t> bien </a:t>
            </a:r>
            <a:r>
              <a:rPr lang="en-US" sz="1200" dirty="0" err="1">
                <a:ea typeface="+mn-lt"/>
                <a:cs typeface="+mn-lt"/>
              </a:rPr>
              <a:t>confinado</a:t>
            </a:r>
            <a:r>
              <a:rPr lang="en-US" sz="1200" dirty="0">
                <a:ea typeface="+mn-lt"/>
                <a:cs typeface="+mn-lt"/>
              </a:rPr>
              <a:t>. Los </a:t>
            </a:r>
            <a:r>
              <a:rPr lang="en-US" sz="1200" dirty="0" err="1">
                <a:ea typeface="+mn-lt"/>
                <a:cs typeface="+mn-lt"/>
              </a:rPr>
              <a:t>otros</a:t>
            </a:r>
            <a:r>
              <a:rPr lang="en-US" sz="1200" dirty="0">
                <a:ea typeface="+mn-lt"/>
                <a:cs typeface="+mn-lt"/>
              </a:rPr>
              <a:t> TE sí </a:t>
            </a:r>
            <a:r>
              <a:rPr lang="en-US" sz="1200" dirty="0" err="1">
                <a:ea typeface="+mn-lt"/>
                <a:cs typeface="+mn-lt"/>
              </a:rPr>
              <a:t>que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cambian</a:t>
            </a:r>
            <a:r>
              <a:rPr lang="en-US" sz="1200" dirty="0">
                <a:ea typeface="+mn-lt"/>
                <a:cs typeface="+mn-lt"/>
              </a:rPr>
              <a:t> </a:t>
            </a:r>
            <a:r>
              <a:rPr lang="en-US" sz="1200" dirty="0" err="1">
                <a:ea typeface="+mn-lt"/>
                <a:cs typeface="+mn-lt"/>
              </a:rPr>
              <a:t>porque</a:t>
            </a:r>
            <a:r>
              <a:rPr lang="en-US" sz="1200" dirty="0">
                <a:ea typeface="+mn-lt"/>
                <a:cs typeface="+mn-lt"/>
              </a:rPr>
              <a:t> antes no se </a:t>
            </a:r>
            <a:r>
              <a:rPr lang="en-US" sz="1200" dirty="0" err="1">
                <a:ea typeface="+mn-lt"/>
                <a:cs typeface="+mn-lt"/>
              </a:rPr>
              <a:t>propagaban</a:t>
            </a:r>
            <a:r>
              <a:rPr lang="en-US" sz="1200" dirty="0">
                <a:ea typeface="+mn-lt"/>
                <a:cs typeface="+mn-lt"/>
              </a:rPr>
              <a:t>.</a:t>
            </a:r>
            <a:endParaRPr lang="en-US" sz="1200" dirty="0">
              <a:ea typeface="Calibri"/>
              <a:cs typeface="Calibri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5FC1A50-1FB6-DDA7-3A8E-FF9D710EF327}"/>
              </a:ext>
            </a:extLst>
          </p:cNvPr>
          <p:cNvSpPr/>
          <p:nvPr/>
        </p:nvSpPr>
        <p:spPr>
          <a:xfrm>
            <a:off x="609441" y="1379296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ABF41F3-7CB6-BF65-A921-407162A10333}"/>
              </a:ext>
            </a:extLst>
          </p:cNvPr>
          <p:cNvSpPr txBox="1"/>
          <p:nvPr/>
        </p:nvSpPr>
        <p:spPr>
          <a:xfrm>
            <a:off x="2286000" y="2671278"/>
            <a:ext cx="7718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</p:txBody>
      </p:sp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D684AFD0-EA54-F043-D3C8-96AB3C9B2C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2067" y="1584108"/>
            <a:ext cx="5220731" cy="303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631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6B67E-9A96-F8B9-278B-A43946967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C0BEDFD-AF0D-CA93-58B5-B278AFEE3F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17981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500"/>
              <a:t>EXTRA3:</a:t>
            </a:r>
            <a:r>
              <a:rPr lang="en-US" sz="2500">
                <a:solidFill>
                  <a:srgbClr val="000000"/>
                </a:solidFill>
                <a:ea typeface="Calibri"/>
              </a:rPr>
              <a:t>Find the safe radius for this technology. Consider sweeping the radius in a 5um to 30um range. </a:t>
            </a:r>
            <a:endParaRPr lang="en-US" sz="2500" b="0">
              <a:solidFill>
                <a:srgbClr val="000000"/>
              </a:solidFill>
              <a:ea typeface="Calibri"/>
            </a:endParaRPr>
          </a:p>
          <a:p>
            <a:pPr marL="12700">
              <a:spcBef>
                <a:spcPts val="100"/>
              </a:spcBef>
            </a:pPr>
            <a:endParaRPr lang="en-US" sz="2500" dirty="0">
              <a:latin typeface="+mj-lt"/>
              <a:ea typeface="Calibri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236E407E-D7C6-26B6-27BE-2074FD6A31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42214195-CD72-60A4-20CD-D1F001FAB4A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A2EF2E3-3171-2FB2-6624-CA5DD9C05B6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F5C3927-4550-C782-C296-FDF2E39BC7F4}"/>
              </a:ext>
            </a:extLst>
          </p:cNvPr>
          <p:cNvSpPr txBox="1"/>
          <p:nvPr/>
        </p:nvSpPr>
        <p:spPr>
          <a:xfrm>
            <a:off x="609441" y="4459795"/>
            <a:ext cx="11199971" cy="196977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100" dirty="0">
                <a:ea typeface="+mn-lt"/>
                <a:cs typeface="+mn-lt"/>
              </a:rPr>
              <a:t>Para </a:t>
            </a:r>
            <a:r>
              <a:rPr lang="en-US" sz="1100" dirty="0" err="1">
                <a:ea typeface="+mn-lt"/>
                <a:cs typeface="+mn-lt"/>
              </a:rPr>
              <a:t>terminar</a:t>
            </a:r>
            <a:r>
              <a:rPr lang="en-US" sz="1100" dirty="0">
                <a:ea typeface="+mn-lt"/>
                <a:cs typeface="+mn-lt"/>
              </a:rPr>
              <a:t>, </a:t>
            </a:r>
            <a:r>
              <a:rPr lang="en-US" sz="1100" dirty="0" err="1">
                <a:ea typeface="+mn-lt"/>
                <a:cs typeface="+mn-lt"/>
              </a:rPr>
              <a:t>en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este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último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apartado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hemos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simulado</a:t>
            </a:r>
            <a:r>
              <a:rPr lang="en-US" sz="1100" dirty="0">
                <a:ea typeface="+mn-lt"/>
                <a:cs typeface="+mn-lt"/>
              </a:rPr>
              <a:t> las </a:t>
            </a:r>
            <a:r>
              <a:rPr lang="en-US" sz="1100" dirty="0" err="1">
                <a:ea typeface="+mn-lt"/>
                <a:cs typeface="+mn-lt"/>
              </a:rPr>
              <a:t>pérdidas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por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curvatura</a:t>
            </a:r>
            <a:r>
              <a:rPr lang="en-US" sz="1100" dirty="0">
                <a:ea typeface="+mn-lt"/>
                <a:cs typeface="+mn-lt"/>
              </a:rPr>
              <a:t>, </a:t>
            </a:r>
            <a:r>
              <a:rPr lang="en-US" sz="1100" dirty="0" err="1">
                <a:ea typeface="+mn-lt"/>
                <a:cs typeface="+mn-lt"/>
              </a:rPr>
              <a:t>pero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esta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vez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utilizando</a:t>
            </a:r>
            <a:r>
              <a:rPr lang="en-US" sz="1100" dirty="0">
                <a:ea typeface="+mn-lt"/>
                <a:cs typeface="+mn-lt"/>
              </a:rPr>
              <a:t> la </a:t>
            </a:r>
            <a:r>
              <a:rPr lang="en-US" sz="1100" dirty="0" err="1">
                <a:ea typeface="+mn-lt"/>
                <a:cs typeface="+mn-lt"/>
              </a:rPr>
              <a:t>tecnología</a:t>
            </a:r>
            <a:r>
              <a:rPr lang="en-US" sz="1100" dirty="0">
                <a:ea typeface="+mn-lt"/>
                <a:cs typeface="+mn-lt"/>
              </a:rPr>
              <a:t> SOI (</a:t>
            </a:r>
            <a:r>
              <a:rPr lang="en-US" sz="1100" dirty="0" err="1">
                <a:ea typeface="+mn-lt"/>
                <a:cs typeface="+mn-lt"/>
              </a:rPr>
              <a:t>silicio</a:t>
            </a:r>
            <a:r>
              <a:rPr lang="en-US" sz="1100" dirty="0">
                <a:ea typeface="+mn-lt"/>
                <a:cs typeface="+mn-lt"/>
              </a:rPr>
              <a:t>). Los </a:t>
            </a:r>
            <a:r>
              <a:rPr lang="en-US" sz="1100" dirty="0" err="1">
                <a:ea typeface="+mn-lt"/>
                <a:cs typeface="+mn-lt"/>
              </a:rPr>
              <a:t>resultados</a:t>
            </a:r>
            <a:r>
              <a:rPr lang="en-US" sz="1100" dirty="0">
                <a:ea typeface="+mn-lt"/>
                <a:cs typeface="+mn-lt"/>
              </a:rPr>
              <a:t> son </a:t>
            </a:r>
            <a:r>
              <a:rPr lang="en-US" sz="1100" dirty="0" err="1">
                <a:ea typeface="+mn-lt"/>
                <a:cs typeface="+mn-lt"/>
              </a:rPr>
              <a:t>impresionantes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si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los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comparamos</a:t>
            </a:r>
            <a:r>
              <a:rPr lang="en-US" sz="1100" dirty="0">
                <a:ea typeface="+mn-lt"/>
                <a:cs typeface="+mn-lt"/>
              </a:rPr>
              <a:t> con </a:t>
            </a:r>
            <a:r>
              <a:rPr lang="en-US" sz="1100" dirty="0" err="1">
                <a:ea typeface="+mn-lt"/>
                <a:cs typeface="+mn-lt"/>
              </a:rPr>
              <a:t>el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nitruro</a:t>
            </a:r>
            <a:r>
              <a:rPr lang="en-US" sz="1100" dirty="0">
                <a:ea typeface="+mn-lt"/>
                <a:cs typeface="+mn-lt"/>
              </a:rPr>
              <a:t>: la </a:t>
            </a:r>
            <a:r>
              <a:rPr lang="en-US" sz="1100" dirty="0" err="1">
                <a:ea typeface="+mn-lt"/>
                <a:cs typeface="+mn-lt"/>
              </a:rPr>
              <a:t>pérdida</a:t>
            </a:r>
            <a:r>
              <a:rPr lang="en-US" sz="1100" dirty="0">
                <a:ea typeface="+mn-lt"/>
                <a:cs typeface="+mn-lt"/>
              </a:rPr>
              <a:t> total es </a:t>
            </a:r>
            <a:r>
              <a:rPr lang="en-US" sz="1100" dirty="0" err="1">
                <a:ea typeface="+mn-lt"/>
                <a:cs typeface="+mn-lt"/>
              </a:rPr>
              <a:t>bajísima</a:t>
            </a:r>
            <a:r>
              <a:rPr lang="en-US" sz="1100" dirty="0">
                <a:ea typeface="+mn-lt"/>
                <a:cs typeface="+mn-lt"/>
              </a:rPr>
              <a:t>, </a:t>
            </a:r>
            <a:r>
              <a:rPr lang="en-US" sz="1100" dirty="0" err="1">
                <a:ea typeface="+mn-lt"/>
                <a:cs typeface="+mn-lt"/>
              </a:rPr>
              <a:t>manteniéndose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siempre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por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debajo</a:t>
            </a:r>
            <a:r>
              <a:rPr lang="en-US" sz="1100" dirty="0">
                <a:ea typeface="+mn-lt"/>
                <a:cs typeface="+mn-lt"/>
              </a:rPr>
              <a:t> de 0.02 dB </a:t>
            </a:r>
            <a:r>
              <a:rPr lang="en-US" sz="1100" dirty="0" err="1">
                <a:ea typeface="+mn-lt"/>
                <a:cs typeface="+mn-lt"/>
              </a:rPr>
              <a:t>por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cada</a:t>
            </a:r>
            <a:r>
              <a:rPr lang="en-US" sz="1100" dirty="0">
                <a:ea typeface="+mn-lt"/>
                <a:cs typeface="+mn-lt"/>
              </a:rPr>
              <a:t> curva de 90 </a:t>
            </a:r>
            <a:r>
              <a:rPr lang="en-US" sz="1100" dirty="0" err="1">
                <a:ea typeface="+mn-lt"/>
                <a:cs typeface="+mn-lt"/>
              </a:rPr>
              <a:t>grados</a:t>
            </a:r>
            <a:r>
              <a:rPr lang="en-US" sz="1100" dirty="0">
                <a:ea typeface="+mn-lt"/>
                <a:cs typeface="+mn-lt"/>
              </a:rPr>
              <a:t>, </a:t>
            </a:r>
            <a:r>
              <a:rPr lang="en-US" sz="1100" dirty="0" err="1">
                <a:ea typeface="+mn-lt"/>
                <a:cs typeface="+mn-lt"/>
              </a:rPr>
              <a:t>incluso</a:t>
            </a:r>
            <a:r>
              <a:rPr lang="en-US" sz="1100" dirty="0">
                <a:ea typeface="+mn-lt"/>
                <a:cs typeface="+mn-lt"/>
              </a:rPr>
              <a:t> para </a:t>
            </a:r>
            <a:r>
              <a:rPr lang="en-US" sz="1100" dirty="0" err="1">
                <a:ea typeface="+mn-lt"/>
                <a:cs typeface="+mn-lt"/>
              </a:rPr>
              <a:t>el</a:t>
            </a:r>
            <a:r>
              <a:rPr lang="en-US" sz="1100" dirty="0">
                <a:ea typeface="+mn-lt"/>
                <a:cs typeface="+mn-lt"/>
              </a:rPr>
              <a:t> radio </a:t>
            </a:r>
            <a:r>
              <a:rPr lang="en-US" sz="1100" dirty="0" err="1">
                <a:ea typeface="+mn-lt"/>
                <a:cs typeface="+mn-lt"/>
              </a:rPr>
              <a:t>más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pequeño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que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hemos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simulado</a:t>
            </a:r>
            <a:r>
              <a:rPr lang="en-US" sz="1100" dirty="0">
                <a:ea typeface="+mn-lt"/>
                <a:cs typeface="+mn-lt"/>
              </a:rPr>
              <a:t> (5 µm). Esto </a:t>
            </a:r>
            <a:r>
              <a:rPr lang="en-US" sz="1100" dirty="0" err="1">
                <a:ea typeface="+mn-lt"/>
                <a:cs typeface="+mn-lt"/>
              </a:rPr>
              <a:t>vuelve</a:t>
            </a:r>
            <a:r>
              <a:rPr lang="en-US" sz="1100" dirty="0">
                <a:ea typeface="+mn-lt"/>
                <a:cs typeface="+mn-lt"/>
              </a:rPr>
              <a:t> a </a:t>
            </a:r>
            <a:r>
              <a:rPr lang="en-US" sz="1100" dirty="0" err="1">
                <a:ea typeface="+mn-lt"/>
                <a:cs typeface="+mn-lt"/>
              </a:rPr>
              <a:t>demostrar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el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enorme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confinamiento</a:t>
            </a:r>
            <a:r>
              <a:rPr lang="en-US" sz="1100" dirty="0">
                <a:ea typeface="+mn-lt"/>
                <a:cs typeface="+mn-lt"/>
              </a:rPr>
              <a:t> modal </a:t>
            </a:r>
            <a:r>
              <a:rPr lang="en-US" sz="1100" dirty="0" err="1">
                <a:ea typeface="+mn-lt"/>
                <a:cs typeface="+mn-lt"/>
              </a:rPr>
              <a:t>que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conseguimos</a:t>
            </a:r>
            <a:r>
              <a:rPr lang="en-US" sz="1100" dirty="0">
                <a:ea typeface="+mn-lt"/>
                <a:cs typeface="+mn-lt"/>
              </a:rPr>
              <a:t> gracias al alto </a:t>
            </a:r>
            <a:r>
              <a:rPr lang="en-US" sz="1100" dirty="0" err="1">
                <a:ea typeface="+mn-lt"/>
                <a:cs typeface="+mn-lt"/>
              </a:rPr>
              <a:t>contraste</a:t>
            </a:r>
            <a:r>
              <a:rPr lang="en-US" sz="1100" dirty="0">
                <a:ea typeface="+mn-lt"/>
                <a:cs typeface="+mn-lt"/>
              </a:rPr>
              <a:t> de </a:t>
            </a:r>
            <a:r>
              <a:rPr lang="en-US" sz="1100" dirty="0" err="1">
                <a:ea typeface="+mn-lt"/>
                <a:cs typeface="+mn-lt"/>
              </a:rPr>
              <a:t>índice</a:t>
            </a:r>
            <a:r>
              <a:rPr lang="en-US" sz="1100" dirty="0">
                <a:ea typeface="+mn-lt"/>
                <a:cs typeface="+mn-lt"/>
              </a:rPr>
              <a:t> entre </a:t>
            </a:r>
            <a:r>
              <a:rPr lang="en-US" sz="1100" dirty="0" err="1">
                <a:ea typeface="+mn-lt"/>
                <a:cs typeface="+mn-lt"/>
              </a:rPr>
              <a:t>el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silicio</a:t>
            </a:r>
            <a:r>
              <a:rPr lang="en-US" sz="1100" dirty="0">
                <a:ea typeface="+mn-lt"/>
                <a:cs typeface="+mn-lt"/>
              </a:rPr>
              <a:t> y </a:t>
            </a:r>
            <a:r>
              <a:rPr lang="en-US" sz="1100" dirty="0" err="1">
                <a:ea typeface="+mn-lt"/>
                <a:cs typeface="+mn-lt"/>
              </a:rPr>
              <a:t>el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óxido</a:t>
            </a:r>
            <a:r>
              <a:rPr lang="en-US" sz="1100" dirty="0">
                <a:ea typeface="+mn-lt"/>
                <a:cs typeface="+mn-lt"/>
              </a:rPr>
              <a:t>. Si </a:t>
            </a:r>
            <a:r>
              <a:rPr lang="en-US" sz="1100" dirty="0" err="1">
                <a:ea typeface="+mn-lt"/>
                <a:cs typeface="+mn-lt"/>
              </a:rPr>
              <a:t>recordamos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nuestro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criterio</a:t>
            </a:r>
            <a:r>
              <a:rPr lang="en-US" sz="1100" dirty="0">
                <a:ea typeface="+mn-lt"/>
                <a:cs typeface="+mn-lt"/>
              </a:rPr>
              <a:t> de </a:t>
            </a:r>
            <a:r>
              <a:rPr lang="en-US" sz="1100" dirty="0" err="1">
                <a:ea typeface="+mn-lt"/>
                <a:cs typeface="+mn-lt"/>
              </a:rPr>
              <a:t>diseño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inicial</a:t>
            </a:r>
            <a:r>
              <a:rPr lang="en-US" sz="1100" dirty="0">
                <a:ea typeface="+mn-lt"/>
                <a:cs typeface="+mn-lt"/>
              </a:rPr>
              <a:t> (no </a:t>
            </a:r>
            <a:r>
              <a:rPr lang="en-US" sz="1100" dirty="0" err="1">
                <a:ea typeface="+mn-lt"/>
                <a:cs typeface="+mn-lt"/>
              </a:rPr>
              <a:t>superar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los</a:t>
            </a:r>
            <a:r>
              <a:rPr lang="en-US" sz="1100" dirty="0">
                <a:ea typeface="+mn-lt"/>
                <a:cs typeface="+mn-lt"/>
              </a:rPr>
              <a:t> 0.1 dB de </a:t>
            </a:r>
            <a:r>
              <a:rPr lang="en-US" sz="1100" dirty="0" err="1">
                <a:ea typeface="+mn-lt"/>
                <a:cs typeface="+mn-lt"/>
              </a:rPr>
              <a:t>pérdida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por</a:t>
            </a:r>
            <a:r>
              <a:rPr lang="en-US" sz="1100" dirty="0">
                <a:ea typeface="+mn-lt"/>
                <a:cs typeface="+mn-lt"/>
              </a:rPr>
              <a:t> curva), </a:t>
            </a:r>
            <a:r>
              <a:rPr lang="en-US" sz="1100" dirty="0" err="1">
                <a:ea typeface="+mn-lt"/>
                <a:cs typeface="+mn-lt"/>
              </a:rPr>
              <a:t>queda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clarísimo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que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en</a:t>
            </a:r>
            <a:r>
              <a:rPr lang="en-US" sz="1100" dirty="0">
                <a:ea typeface="+mn-lt"/>
                <a:cs typeface="+mn-lt"/>
              </a:rPr>
              <a:t> SOI </a:t>
            </a:r>
            <a:r>
              <a:rPr lang="en-US" sz="1100" dirty="0" err="1">
                <a:ea typeface="+mn-lt"/>
                <a:cs typeface="+mn-lt"/>
              </a:rPr>
              <a:t>el</a:t>
            </a:r>
            <a:r>
              <a:rPr lang="en-US" sz="1100" dirty="0">
                <a:ea typeface="+mn-lt"/>
                <a:cs typeface="+mn-lt"/>
              </a:rPr>
              <a:t> radio </a:t>
            </a:r>
            <a:r>
              <a:rPr lang="en-US" sz="1100" dirty="0" err="1">
                <a:ea typeface="+mn-lt"/>
                <a:cs typeface="+mn-lt"/>
              </a:rPr>
              <a:t>seguro</a:t>
            </a:r>
            <a:r>
              <a:rPr lang="en-US" sz="1100" dirty="0">
                <a:ea typeface="+mn-lt"/>
                <a:cs typeface="+mn-lt"/>
              </a:rPr>
              <a:t> es </a:t>
            </a:r>
            <a:r>
              <a:rPr lang="en-US" sz="1100" dirty="0" err="1">
                <a:ea typeface="+mn-lt"/>
                <a:cs typeface="+mn-lt"/>
              </a:rPr>
              <a:t>incluso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menor</a:t>
            </a:r>
            <a:r>
              <a:rPr lang="en-US" sz="1100" dirty="0">
                <a:ea typeface="+mn-lt"/>
                <a:cs typeface="+mn-lt"/>
              </a:rPr>
              <a:t> a 5 µm.</a:t>
            </a:r>
            <a:endParaRPr lang="es-ES" sz="1100" dirty="0">
              <a:ea typeface="+mn-lt"/>
              <a:cs typeface="+mn-lt"/>
            </a:endParaRPr>
          </a:p>
          <a:p>
            <a:pPr algn="just"/>
            <a:endParaRPr lang="en-US" sz="1100" dirty="0">
              <a:ea typeface="+mn-lt"/>
              <a:cs typeface="+mn-lt"/>
            </a:endParaRPr>
          </a:p>
          <a:p>
            <a:pPr algn="just"/>
            <a:r>
              <a:rPr lang="en-US" sz="1100" dirty="0" err="1">
                <a:ea typeface="+mn-lt"/>
                <a:cs typeface="+mn-lt"/>
              </a:rPr>
              <a:t>Hemos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hecho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pruebas</a:t>
            </a:r>
            <a:r>
              <a:rPr lang="en-US" sz="1100" dirty="0">
                <a:ea typeface="+mn-lt"/>
                <a:cs typeface="+mn-lt"/>
              </a:rPr>
              <a:t> con radios </a:t>
            </a:r>
            <a:r>
              <a:rPr lang="en-US" sz="1100" dirty="0" err="1">
                <a:ea typeface="+mn-lt"/>
                <a:cs typeface="+mn-lt"/>
              </a:rPr>
              <a:t>menores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que</a:t>
            </a:r>
            <a:r>
              <a:rPr lang="en-US" sz="1100" dirty="0">
                <a:ea typeface="+mn-lt"/>
                <a:cs typeface="+mn-lt"/>
              </a:rPr>
              <a:t> 5um, </a:t>
            </a:r>
            <a:r>
              <a:rPr lang="en-US" sz="1100" dirty="0" err="1">
                <a:ea typeface="+mn-lt"/>
                <a:cs typeface="+mn-lt"/>
              </a:rPr>
              <a:t>pero</a:t>
            </a:r>
            <a:r>
              <a:rPr lang="en-US" sz="1100" dirty="0">
                <a:ea typeface="+mn-lt"/>
                <a:cs typeface="+mn-lt"/>
              </a:rPr>
              <a:t> no </a:t>
            </a:r>
            <a:r>
              <a:rPr lang="en-US" sz="1100" dirty="0" err="1">
                <a:ea typeface="+mn-lt"/>
                <a:cs typeface="+mn-lt"/>
              </a:rPr>
              <a:t>hemos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podido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encontrar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el</a:t>
            </a:r>
            <a:r>
              <a:rPr lang="en-US" sz="1100" dirty="0">
                <a:ea typeface="+mn-lt"/>
                <a:cs typeface="+mn-lt"/>
              </a:rPr>
              <a:t> corte con 0.1, </a:t>
            </a:r>
            <a:r>
              <a:rPr lang="en-US" sz="1100" dirty="0" err="1">
                <a:ea typeface="+mn-lt"/>
                <a:cs typeface="+mn-lt"/>
              </a:rPr>
              <a:t>creemos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que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está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en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torno</a:t>
            </a:r>
            <a:r>
              <a:rPr lang="en-US" sz="1100" dirty="0">
                <a:ea typeface="+mn-lt"/>
                <a:cs typeface="+mn-lt"/>
              </a:rPr>
              <a:t> a 2.4um, </a:t>
            </a:r>
            <a:r>
              <a:rPr lang="en-US" sz="1100" dirty="0" err="1">
                <a:ea typeface="+mn-lt"/>
                <a:cs typeface="+mn-lt"/>
              </a:rPr>
              <a:t>pero</a:t>
            </a:r>
            <a:r>
              <a:rPr lang="en-US" sz="1100" dirty="0">
                <a:ea typeface="+mn-lt"/>
                <a:cs typeface="+mn-lt"/>
              </a:rPr>
              <a:t> no </a:t>
            </a:r>
            <a:r>
              <a:rPr lang="en-US" sz="1100" dirty="0" err="1">
                <a:ea typeface="+mn-lt"/>
                <a:cs typeface="+mn-lt"/>
              </a:rPr>
              <a:t>hemos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conseguido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dar</a:t>
            </a:r>
            <a:r>
              <a:rPr lang="en-US" sz="1100" dirty="0">
                <a:ea typeface="+mn-lt"/>
                <a:cs typeface="+mn-lt"/>
              </a:rPr>
              <a:t> con </a:t>
            </a:r>
            <a:r>
              <a:rPr lang="en-US" sz="1100" dirty="0" err="1">
                <a:ea typeface="+mn-lt"/>
                <a:cs typeface="+mn-lt"/>
              </a:rPr>
              <a:t>él</a:t>
            </a:r>
            <a:r>
              <a:rPr lang="en-US" sz="1100" dirty="0">
                <a:ea typeface="+mn-lt"/>
                <a:cs typeface="+mn-lt"/>
              </a:rPr>
              <a:t> para </a:t>
            </a:r>
            <a:r>
              <a:rPr lang="en-US" sz="1100" dirty="0" err="1">
                <a:ea typeface="+mn-lt"/>
                <a:cs typeface="+mn-lt"/>
              </a:rPr>
              <a:t>poder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mostrarlo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en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una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gráfica</a:t>
            </a:r>
            <a:r>
              <a:rPr lang="en-US" sz="1100" dirty="0">
                <a:ea typeface="+mn-lt"/>
                <a:cs typeface="+mn-lt"/>
              </a:rPr>
              <a:t>.</a:t>
            </a:r>
          </a:p>
          <a:p>
            <a:pPr algn="just"/>
            <a:endParaRPr lang="en-US" sz="1100" dirty="0">
              <a:ea typeface="+mn-lt"/>
              <a:cs typeface="+mn-lt"/>
            </a:endParaRPr>
          </a:p>
          <a:p>
            <a:pPr algn="just"/>
            <a:r>
              <a:rPr lang="en-US" sz="1100" dirty="0">
                <a:ea typeface="+mn-lt"/>
                <a:cs typeface="+mn-lt"/>
              </a:rPr>
              <a:t>En </a:t>
            </a:r>
            <a:r>
              <a:rPr lang="en-US" sz="1100" dirty="0" err="1">
                <a:ea typeface="+mn-lt"/>
                <a:cs typeface="+mn-lt"/>
              </a:rPr>
              <a:t>conclusión</a:t>
            </a:r>
            <a:r>
              <a:rPr lang="en-US" sz="1100" dirty="0">
                <a:ea typeface="+mn-lt"/>
                <a:cs typeface="+mn-lt"/>
              </a:rPr>
              <a:t>, </a:t>
            </a:r>
            <a:r>
              <a:rPr lang="en-US" sz="1100" dirty="0" err="1">
                <a:ea typeface="+mn-lt"/>
                <a:cs typeface="+mn-lt"/>
              </a:rPr>
              <a:t>este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estudio</a:t>
            </a:r>
            <a:r>
              <a:rPr lang="en-US" sz="1100" dirty="0">
                <a:ea typeface="+mn-lt"/>
                <a:cs typeface="+mn-lt"/>
              </a:rPr>
              <a:t> </a:t>
            </a:r>
            <a:r>
              <a:rPr lang="en-US" sz="1100" dirty="0" err="1">
                <a:ea typeface="+mn-lt"/>
                <a:cs typeface="+mn-lt"/>
              </a:rPr>
              <a:t>demuestra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por qué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el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silicio</a:t>
            </a:r>
            <a:r>
              <a:rPr lang="en-US" sz="1100" dirty="0">
                <a:ea typeface="+mn-lt"/>
                <a:cs typeface="+mn-lt"/>
              </a:rPr>
              <a:t> es </a:t>
            </a:r>
            <a:r>
              <a:rPr lang="en-US" sz="1100" dirty="0" err="1">
                <a:ea typeface="+mn-lt"/>
                <a:cs typeface="+mn-lt"/>
              </a:rPr>
              <a:t>líder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en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fotónica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integrada</a:t>
            </a:r>
            <a:r>
              <a:rPr lang="en-US" sz="1100" dirty="0">
                <a:ea typeface="+mn-lt"/>
                <a:cs typeface="+mn-lt"/>
              </a:rPr>
              <a:t>: </a:t>
            </a:r>
            <a:r>
              <a:rPr lang="en-US" sz="1100" dirty="0" err="1">
                <a:ea typeface="+mn-lt"/>
                <a:cs typeface="+mn-lt"/>
              </a:rPr>
              <a:t>nos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permite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hacer</a:t>
            </a:r>
            <a:r>
              <a:rPr lang="en-US" sz="1100" dirty="0">
                <a:ea typeface="+mn-lt"/>
                <a:cs typeface="+mn-lt"/>
              </a:rPr>
              <a:t> curvas </a:t>
            </a:r>
            <a:r>
              <a:rPr lang="en-US" sz="1100" dirty="0" err="1">
                <a:ea typeface="+mn-lt"/>
                <a:cs typeface="+mn-lt"/>
              </a:rPr>
              <a:t>muchísimo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más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cerradas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que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el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SiNx</a:t>
            </a:r>
            <a:r>
              <a:rPr lang="en-US" sz="1100" dirty="0">
                <a:ea typeface="+mn-lt"/>
                <a:cs typeface="+mn-lt"/>
              </a:rPr>
              <a:t>, lo </a:t>
            </a:r>
            <a:r>
              <a:rPr lang="en-US" sz="1100" dirty="0" err="1">
                <a:ea typeface="+mn-lt"/>
                <a:cs typeface="+mn-lt"/>
              </a:rPr>
              <a:t>que</a:t>
            </a:r>
            <a:r>
              <a:rPr lang="en-US" sz="1100" dirty="0">
                <a:ea typeface="+mn-lt"/>
                <a:cs typeface="+mn-lt"/>
              </a:rPr>
              <a:t> se traduce </a:t>
            </a:r>
            <a:r>
              <a:rPr lang="en-US" sz="1100" dirty="0" err="1">
                <a:ea typeface="+mn-lt"/>
                <a:cs typeface="+mn-lt"/>
              </a:rPr>
              <a:t>en</a:t>
            </a:r>
            <a:r>
              <a:rPr lang="en-US" sz="1100" dirty="0">
                <a:ea typeface="+mn-lt"/>
                <a:cs typeface="+mn-lt"/>
              </a:rPr>
              <a:t> chips </a:t>
            </a:r>
            <a:r>
              <a:rPr lang="en-US" sz="1100" dirty="0" err="1">
                <a:ea typeface="+mn-lt"/>
                <a:cs typeface="+mn-lt"/>
              </a:rPr>
              <a:t>mucho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más</a:t>
            </a:r>
            <a:r>
              <a:rPr lang="en-US" sz="1100" dirty="0">
                <a:ea typeface="+mn-lt"/>
                <a:cs typeface="+mn-lt"/>
              </a:rPr>
              <a:t> </a:t>
            </a:r>
            <a:r>
              <a:rPr lang="en-US" sz="1100" dirty="0" err="1">
                <a:ea typeface="+mn-lt"/>
                <a:cs typeface="+mn-lt"/>
              </a:rPr>
              <a:t>compactos</a:t>
            </a:r>
            <a:r>
              <a:rPr lang="en-US" sz="1100" dirty="0">
                <a:ea typeface="+mn-lt"/>
                <a:cs typeface="+mn-lt"/>
              </a:rPr>
              <a:t> y </a:t>
            </a:r>
            <a:r>
              <a:rPr lang="en-US" sz="1100" dirty="0" err="1">
                <a:ea typeface="+mn-lt"/>
                <a:cs typeface="+mn-lt"/>
              </a:rPr>
              <a:t>densos</a:t>
            </a:r>
            <a:r>
              <a:rPr lang="en-US" sz="1100" dirty="0">
                <a:ea typeface="+mn-lt"/>
                <a:cs typeface="+mn-lt"/>
              </a:rPr>
              <a:t>.</a:t>
            </a:r>
            <a:endParaRPr lang="es-ES" sz="1100">
              <a:ea typeface="Calibri"/>
              <a:cs typeface="Calibri"/>
            </a:endParaRPr>
          </a:p>
          <a:p>
            <a:pPr algn="just"/>
            <a:endParaRPr lang="en-US" sz="1200" dirty="0">
              <a:ea typeface="Calibri"/>
              <a:cs typeface="Calibri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97D7B5E-9289-0FEA-19A0-81FAB511D19A}"/>
              </a:ext>
            </a:extLst>
          </p:cNvPr>
          <p:cNvSpPr/>
          <p:nvPr/>
        </p:nvSpPr>
        <p:spPr>
          <a:xfrm>
            <a:off x="609441" y="1183911"/>
            <a:ext cx="111999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BC721AD6-5E3D-0BEB-964C-03C745D88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726" y="1184173"/>
            <a:ext cx="4120980" cy="3232065"/>
          </a:xfrm>
          <a:prstGeom prst="rect">
            <a:avLst/>
          </a:prstGeom>
        </p:spPr>
      </p:pic>
      <p:pic>
        <p:nvPicPr>
          <p:cNvPr id="5" name="Imagen 4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0089F800-10F3-1EFB-E063-ADA46C3683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9542" y="1282920"/>
            <a:ext cx="4137970" cy="317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439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7E995-E6AF-DF50-D3FF-C8058EE3B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FC89F05D-B55B-5C01-4EEB-85C5012EEA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1192634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500" dirty="0"/>
              <a:t>EXTRA4:</a:t>
            </a:r>
            <a:r>
              <a:rPr lang="en-US" sz="2500" dirty="0">
                <a:solidFill>
                  <a:srgbClr val="000000"/>
                </a:solidFill>
                <a:ea typeface="Calibri"/>
              </a:rPr>
              <a:t>Compare the </a:t>
            </a:r>
            <a:r>
              <a:rPr lang="en-US" sz="2500" dirty="0" err="1">
                <a:solidFill>
                  <a:srgbClr val="000000"/>
                </a:solidFill>
                <a:ea typeface="Calibri"/>
              </a:rPr>
              <a:t>SiNx</a:t>
            </a:r>
            <a:r>
              <a:rPr lang="en-US" sz="2500" dirty="0">
                <a:solidFill>
                  <a:srgbClr val="000000"/>
                </a:solidFill>
                <a:ea typeface="Calibri"/>
              </a:rPr>
              <a:t> and SOI technologies</a:t>
            </a:r>
            <a:endParaRPr lang="en-US" sz="2500" b="0" dirty="0">
              <a:solidFill>
                <a:srgbClr val="000000"/>
              </a:solidFill>
              <a:ea typeface="Calibri"/>
            </a:endParaRPr>
          </a:p>
          <a:p>
            <a:pPr marL="12700">
              <a:spcBef>
                <a:spcPts val="100"/>
              </a:spcBef>
            </a:pPr>
            <a:endParaRPr lang="en-US" sz="2500" dirty="0">
              <a:solidFill>
                <a:srgbClr val="000000"/>
              </a:solidFill>
              <a:ea typeface="Calibri"/>
            </a:endParaRPr>
          </a:p>
          <a:p>
            <a:pPr marL="12700">
              <a:spcBef>
                <a:spcPts val="100"/>
              </a:spcBef>
            </a:pPr>
            <a:endParaRPr lang="en-US" sz="2500" dirty="0">
              <a:latin typeface="+mj-lt"/>
              <a:ea typeface="Calibri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737D5FD9-D1D6-5B29-C86C-E0BFB3B5AF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33BBFBD8-9D44-4ACB-CE21-C87EF3B333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17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F64E2CE-1C50-BEF2-4CAF-309FD926CE4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/>
              <a:t>LAB 1.0 WAVEGUIDES</a:t>
            </a:r>
            <a:endParaRPr lang="es-ES" spc="-5" dirty="0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762F348-267F-7E78-C08E-86BDC0EDA9A8}"/>
              </a:ext>
            </a:extLst>
          </p:cNvPr>
          <p:cNvSpPr txBox="1"/>
          <p:nvPr/>
        </p:nvSpPr>
        <p:spPr>
          <a:xfrm>
            <a:off x="465279" y="1348956"/>
            <a:ext cx="11217094" cy="307776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endParaRPr lang="en-US" sz="1400" dirty="0">
              <a:ea typeface="Calibri"/>
              <a:cs typeface="Calibri"/>
            </a:endParaRPr>
          </a:p>
          <a:p>
            <a:pPr algn="just"/>
            <a:r>
              <a:rPr lang="en-US" sz="1400" dirty="0">
                <a:ea typeface="+mn-lt"/>
                <a:cs typeface="+mn-lt"/>
              </a:rPr>
              <a:t>Para </a:t>
            </a:r>
            <a:r>
              <a:rPr lang="en-US" sz="1400" err="1">
                <a:ea typeface="+mn-lt"/>
                <a:cs typeface="+mn-lt"/>
              </a:rPr>
              <a:t>cerrar</a:t>
            </a:r>
            <a:r>
              <a:rPr lang="en-US" sz="1400" dirty="0">
                <a:ea typeface="+mn-lt"/>
                <a:cs typeface="+mn-lt"/>
              </a:rPr>
              <a:t> la </a:t>
            </a:r>
            <a:r>
              <a:rPr lang="en-US" sz="1400" err="1">
                <a:ea typeface="+mn-lt"/>
                <a:cs typeface="+mn-lt"/>
              </a:rPr>
              <a:t>práctica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err="1">
                <a:ea typeface="+mn-lt"/>
                <a:cs typeface="+mn-lt"/>
              </a:rPr>
              <a:t>hemos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hecho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una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comparación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directa</a:t>
            </a:r>
            <a:r>
              <a:rPr lang="en-US" sz="1400" dirty="0">
                <a:ea typeface="+mn-lt"/>
                <a:cs typeface="+mn-lt"/>
              </a:rPr>
              <a:t> entre las dos </a:t>
            </a:r>
            <a:r>
              <a:rPr lang="en-US" sz="1400" err="1">
                <a:ea typeface="+mn-lt"/>
                <a:cs typeface="+mn-lt"/>
              </a:rPr>
              <a:t>tecnologías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simuladas</a:t>
            </a:r>
            <a:r>
              <a:rPr lang="en-US" sz="1400" dirty="0">
                <a:ea typeface="+mn-lt"/>
                <a:cs typeface="+mn-lt"/>
              </a:rPr>
              <a:t>: </a:t>
            </a:r>
            <a:r>
              <a:rPr lang="en-US" sz="1400" err="1">
                <a:ea typeface="+mn-lt"/>
                <a:cs typeface="+mn-lt"/>
              </a:rPr>
              <a:t>Nitruro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err="1">
                <a:ea typeface="+mn-lt"/>
                <a:cs typeface="+mn-lt"/>
              </a:rPr>
              <a:t>Silicio</a:t>
            </a:r>
            <a:r>
              <a:rPr lang="en-US" sz="1400" dirty="0">
                <a:ea typeface="+mn-lt"/>
                <a:cs typeface="+mn-lt"/>
              </a:rPr>
              <a:t> (</a:t>
            </a:r>
            <a:r>
              <a:rPr lang="en-US" sz="1400" err="1">
                <a:ea typeface="+mn-lt"/>
                <a:cs typeface="+mn-lt"/>
              </a:rPr>
              <a:t>SiNx</a:t>
            </a:r>
            <a:r>
              <a:rPr lang="en-US" sz="1400" dirty="0">
                <a:ea typeface="+mn-lt"/>
                <a:cs typeface="+mn-lt"/>
              </a:rPr>
              <a:t> ) y </a:t>
            </a:r>
            <a:r>
              <a:rPr lang="en-US" sz="1400">
                <a:ea typeface="+mn-lt"/>
                <a:cs typeface="+mn-lt"/>
              </a:rPr>
              <a:t>Silicio (SOI). La gran </a:t>
            </a:r>
            <a:r>
              <a:rPr lang="en-US" sz="1400" err="1">
                <a:ea typeface="+mn-lt"/>
                <a:cs typeface="+mn-lt"/>
              </a:rPr>
              <a:t>diferencia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que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explica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todo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su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comportamiento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radica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en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el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contraste</a:t>
            </a:r>
            <a:r>
              <a:rPr lang="en-US" sz="1400">
                <a:ea typeface="+mn-lt"/>
                <a:cs typeface="+mn-lt"/>
              </a:rPr>
              <a:t> de </a:t>
            </a:r>
            <a:r>
              <a:rPr lang="en-US" sz="1400" err="1">
                <a:ea typeface="+mn-lt"/>
                <a:cs typeface="+mn-lt"/>
              </a:rPr>
              <a:t>índice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respecto</a:t>
            </a:r>
            <a:r>
              <a:rPr lang="en-US" sz="1400">
                <a:ea typeface="+mn-lt"/>
                <a:cs typeface="+mn-lt"/>
              </a:rPr>
              <a:t> a la </a:t>
            </a:r>
            <a:r>
              <a:rPr lang="en-US" sz="1400" err="1">
                <a:ea typeface="+mn-lt"/>
                <a:cs typeface="+mn-lt"/>
              </a:rPr>
              <a:t>cubierta</a:t>
            </a:r>
            <a:r>
              <a:rPr lang="en-US" sz="1400">
                <a:ea typeface="+mn-lt"/>
                <a:cs typeface="+mn-lt"/>
              </a:rPr>
              <a:t> de </a:t>
            </a:r>
            <a:r>
              <a:rPr lang="en-US" sz="1400" err="1">
                <a:ea typeface="+mn-lt"/>
                <a:cs typeface="+mn-lt"/>
              </a:rPr>
              <a:t>óxido</a:t>
            </a:r>
            <a:r>
              <a:rPr lang="en-US" sz="1400">
                <a:ea typeface="+mn-lt"/>
                <a:cs typeface="+mn-lt"/>
              </a:rPr>
              <a:t> (1.45). </a:t>
            </a:r>
            <a:r>
              <a:rPr lang="en-US" sz="1400" err="1">
                <a:ea typeface="+mn-lt"/>
                <a:cs typeface="+mn-lt"/>
              </a:rPr>
              <a:t>Mientras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que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el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SiNx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tiene</a:t>
            </a:r>
            <a:r>
              <a:rPr lang="en-US" sz="1400">
                <a:ea typeface="+mn-lt"/>
                <a:cs typeface="+mn-lt"/>
              </a:rPr>
              <a:t> un </a:t>
            </a:r>
            <a:r>
              <a:rPr lang="en-US" sz="1400" err="1">
                <a:ea typeface="+mn-lt"/>
                <a:cs typeface="+mn-lt"/>
              </a:rPr>
              <a:t>contraste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moderado</a:t>
            </a:r>
            <a:r>
              <a:rPr lang="en-US" sz="1400">
                <a:ea typeface="+mn-lt"/>
                <a:cs typeface="+mn-lt"/>
              </a:rPr>
              <a:t> (n≈2.0), </a:t>
            </a:r>
            <a:r>
              <a:rPr lang="en-US" sz="1400" err="1">
                <a:ea typeface="+mn-lt"/>
                <a:cs typeface="+mn-lt"/>
              </a:rPr>
              <a:t>el</a:t>
            </a:r>
            <a:r>
              <a:rPr lang="en-US" sz="1400">
                <a:ea typeface="+mn-lt"/>
                <a:cs typeface="+mn-lt"/>
              </a:rPr>
              <a:t> SOI </a:t>
            </a:r>
            <a:r>
              <a:rPr lang="en-US" sz="1400" err="1">
                <a:ea typeface="+mn-lt"/>
                <a:cs typeface="+mn-lt"/>
              </a:rPr>
              <a:t>tiene</a:t>
            </a:r>
            <a:r>
              <a:rPr lang="en-US" sz="1400">
                <a:ea typeface="+mn-lt"/>
                <a:cs typeface="+mn-lt"/>
              </a:rPr>
              <a:t> un </a:t>
            </a:r>
            <a:r>
              <a:rPr lang="en-US" sz="1400" err="1">
                <a:ea typeface="+mn-lt"/>
                <a:cs typeface="+mn-lt"/>
              </a:rPr>
              <a:t>contraste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altísimo</a:t>
            </a:r>
            <a:r>
              <a:rPr lang="en-US" sz="1400">
                <a:ea typeface="+mn-lt"/>
                <a:cs typeface="+mn-lt"/>
              </a:rPr>
              <a:t> (n≈3.48), lo </a:t>
            </a:r>
            <a:r>
              <a:rPr lang="en-US" sz="1400" err="1">
                <a:ea typeface="+mn-lt"/>
                <a:cs typeface="+mn-lt"/>
              </a:rPr>
              <a:t>que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hace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que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atrape</a:t>
            </a:r>
            <a:r>
              <a:rPr lang="en-US" sz="1400">
                <a:ea typeface="+mn-lt"/>
                <a:cs typeface="+mn-lt"/>
              </a:rPr>
              <a:t> y confine la luz con </a:t>
            </a:r>
            <a:r>
              <a:rPr lang="en-US" sz="1400" err="1">
                <a:ea typeface="+mn-lt"/>
                <a:cs typeface="+mn-lt"/>
              </a:rPr>
              <a:t>muchísima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más</a:t>
            </a:r>
            <a:r>
              <a:rPr lang="en-US" sz="1400">
                <a:ea typeface="+mn-lt"/>
                <a:cs typeface="+mn-lt"/>
              </a:rPr>
              <a:t> </a:t>
            </a:r>
            <a:r>
              <a:rPr lang="en-US" sz="1400" err="1">
                <a:ea typeface="+mn-lt"/>
                <a:cs typeface="+mn-lt"/>
              </a:rPr>
              <a:t>fuerza</a:t>
            </a:r>
            <a:r>
              <a:rPr lang="en-US" sz="1400" dirty="0">
                <a:ea typeface="+mn-lt"/>
                <a:cs typeface="+mn-lt"/>
              </a:rPr>
              <a:t>.</a:t>
            </a:r>
            <a:endParaRPr lang="en-US" sz="1400" dirty="0">
              <a:ea typeface="Calibri"/>
              <a:cs typeface="Calibri"/>
            </a:endParaRPr>
          </a:p>
          <a:p>
            <a:pPr algn="just"/>
            <a:r>
              <a:rPr lang="en-US" sz="1400" dirty="0">
                <a:ea typeface="+mn-lt"/>
                <a:cs typeface="+mn-lt"/>
              </a:rPr>
              <a:t>Al </a:t>
            </a:r>
            <a:r>
              <a:rPr lang="en-US" sz="1400" dirty="0" err="1">
                <a:ea typeface="+mn-lt"/>
                <a:cs typeface="+mn-lt"/>
              </a:rPr>
              <a:t>comparar</a:t>
            </a:r>
            <a:r>
              <a:rPr lang="en-US" sz="1400" dirty="0">
                <a:ea typeface="+mn-lt"/>
                <a:cs typeface="+mn-lt"/>
              </a:rPr>
              <a:t> ambas </a:t>
            </a:r>
            <a:r>
              <a:rPr lang="en-US" sz="1400" dirty="0" err="1">
                <a:ea typeface="+mn-lt"/>
                <a:cs typeface="+mn-lt"/>
              </a:rPr>
              <a:t>plataformas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diferentes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escenarios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hemos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comprobado</a:t>
            </a:r>
            <a:r>
              <a:rPr lang="en-US" sz="1400" dirty="0">
                <a:ea typeface="+mn-lt"/>
                <a:cs typeface="+mn-lt"/>
              </a:rPr>
              <a:t> lo </a:t>
            </a:r>
            <a:r>
              <a:rPr lang="en-US" sz="1400" dirty="0" err="1">
                <a:ea typeface="+mn-lt"/>
                <a:cs typeface="+mn-lt"/>
              </a:rPr>
              <a:t>siguiente</a:t>
            </a:r>
            <a:r>
              <a:rPr lang="en-US" sz="1400" dirty="0">
                <a:ea typeface="+mn-lt"/>
                <a:cs typeface="+mn-lt"/>
              </a:rPr>
              <a:t>:</a:t>
            </a:r>
            <a:endParaRPr lang="en-US" sz="1400" dirty="0">
              <a:ea typeface="Calibri"/>
              <a:cs typeface="Calibri"/>
            </a:endParaRPr>
          </a:p>
          <a:p>
            <a:pPr algn="just"/>
            <a:endParaRPr lang="en-US" sz="1400" dirty="0">
              <a:ea typeface="+mn-lt"/>
              <a:cs typeface="+mn-lt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00" dirty="0" err="1">
                <a:ea typeface="+mn-lt"/>
                <a:cs typeface="+mn-lt"/>
              </a:rPr>
              <a:t>Frente</a:t>
            </a:r>
            <a:r>
              <a:rPr lang="en-US" sz="1400" dirty="0">
                <a:ea typeface="+mn-lt"/>
                <a:cs typeface="+mn-lt"/>
              </a:rPr>
              <a:t> a la </a:t>
            </a:r>
            <a:r>
              <a:rPr lang="en-US" sz="1400" dirty="0" err="1">
                <a:ea typeface="+mn-lt"/>
                <a:cs typeface="+mn-lt"/>
              </a:rPr>
              <a:t>Longitud</a:t>
            </a:r>
            <a:r>
              <a:rPr lang="en-US" sz="1400" dirty="0">
                <a:ea typeface="+mn-lt"/>
                <a:cs typeface="+mn-lt"/>
              </a:rPr>
              <a:t> de Onda: </a:t>
            </a:r>
            <a:r>
              <a:rPr lang="en-US" sz="1400" dirty="0" err="1">
                <a:ea typeface="+mn-lt"/>
                <a:cs typeface="+mn-lt"/>
              </a:rPr>
              <a:t>Vemos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las </a:t>
            </a:r>
            <a:r>
              <a:rPr lang="en-US" sz="1400" dirty="0" err="1">
                <a:ea typeface="+mn-lt"/>
                <a:cs typeface="+mn-lt"/>
              </a:rPr>
              <a:t>gráficas</a:t>
            </a:r>
            <a:r>
              <a:rPr lang="en-US" sz="1400" dirty="0">
                <a:ea typeface="+mn-lt"/>
                <a:cs typeface="+mn-lt"/>
              </a:rPr>
              <a:t> del principio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un </a:t>
            </a:r>
            <a:r>
              <a:rPr lang="en-US" sz="1400" dirty="0" err="1">
                <a:ea typeface="+mn-lt"/>
                <a:cs typeface="+mn-lt"/>
              </a:rPr>
              <a:t>mismo</a:t>
            </a:r>
            <a:r>
              <a:rPr lang="en-US" sz="1400" dirty="0">
                <a:ea typeface="+mn-lt"/>
                <a:cs typeface="+mn-lt"/>
              </a:rPr>
              <a:t> modo </a:t>
            </a:r>
            <a:r>
              <a:rPr lang="en-US" sz="1400" dirty="0" err="1">
                <a:ea typeface="+mn-lt"/>
                <a:cs typeface="+mn-lt"/>
              </a:rPr>
              <a:t>tiene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más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pendiente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Silicio</a:t>
            </a:r>
            <a:r>
              <a:rPr lang="en-US" sz="1400" dirty="0">
                <a:ea typeface="+mn-lt"/>
                <a:cs typeface="+mn-lt"/>
              </a:rPr>
              <a:t> y, </a:t>
            </a:r>
            <a:r>
              <a:rPr lang="en-US" sz="1400" dirty="0" err="1">
                <a:ea typeface="+mn-lt"/>
                <a:cs typeface="+mn-lt"/>
              </a:rPr>
              <a:t>por</a:t>
            </a:r>
            <a:r>
              <a:rPr lang="en-US" sz="1400" dirty="0">
                <a:ea typeface="+mn-lt"/>
                <a:cs typeface="+mn-lt"/>
              </a:rPr>
              <a:t> lo tanto </a:t>
            </a:r>
            <a:r>
              <a:rPr lang="en-US" sz="1400" dirty="0" err="1">
                <a:ea typeface="+mn-lt"/>
                <a:cs typeface="+mn-lt"/>
              </a:rPr>
              <a:t>más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variación</a:t>
            </a:r>
            <a:r>
              <a:rPr lang="en-US" sz="1400" dirty="0">
                <a:ea typeface="+mn-lt"/>
                <a:cs typeface="+mn-lt"/>
              </a:rPr>
              <a:t>.(Visto </a:t>
            </a:r>
            <a:r>
              <a:rPr lang="en-US" sz="1400" dirty="0" err="1">
                <a:ea typeface="+mn-lt"/>
                <a:cs typeface="+mn-lt"/>
              </a:rPr>
              <a:t>en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apartado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meteriales</a:t>
            </a:r>
            <a:r>
              <a:rPr lang="en-US" sz="1400" dirty="0">
                <a:ea typeface="+mn-lt"/>
                <a:cs typeface="+mn-lt"/>
              </a:rPr>
              <a:t>)</a:t>
            </a:r>
            <a:endParaRPr lang="en-US" sz="1400" dirty="0"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1400" dirty="0">
                <a:ea typeface="+mn-lt"/>
                <a:cs typeface="+mn-lt"/>
              </a:rPr>
              <a:t>Radios de </a:t>
            </a:r>
            <a:r>
              <a:rPr lang="en-US" sz="1400" dirty="0" err="1">
                <a:ea typeface="+mn-lt"/>
                <a:cs typeface="+mn-lt"/>
              </a:rPr>
              <a:t>Curvatura</a:t>
            </a:r>
            <a:r>
              <a:rPr lang="en-US" sz="1400" dirty="0">
                <a:ea typeface="+mn-lt"/>
                <a:cs typeface="+mn-lt"/>
              </a:rPr>
              <a:t> : </a:t>
            </a:r>
            <a:r>
              <a:rPr lang="en-US" sz="1400" dirty="0" err="1">
                <a:ea typeface="+mn-lt"/>
                <a:cs typeface="+mn-lt"/>
              </a:rPr>
              <a:t>Aquí</a:t>
            </a:r>
            <a:r>
              <a:rPr lang="en-US" sz="1400" dirty="0">
                <a:ea typeface="+mn-lt"/>
                <a:cs typeface="+mn-lt"/>
              </a:rPr>
              <a:t> la </a:t>
            </a:r>
            <a:r>
              <a:rPr lang="en-US" sz="1400" dirty="0" err="1">
                <a:ea typeface="+mn-lt"/>
                <a:cs typeface="+mn-lt"/>
              </a:rPr>
              <a:t>diferencia</a:t>
            </a:r>
            <a:r>
              <a:rPr lang="en-US" sz="1400" dirty="0">
                <a:ea typeface="+mn-lt"/>
                <a:cs typeface="+mn-lt"/>
              </a:rPr>
              <a:t> es brutal. </a:t>
            </a:r>
            <a:r>
              <a:rPr lang="en-US" sz="1400" dirty="0" err="1">
                <a:ea typeface="+mn-lt"/>
                <a:cs typeface="+mn-lt"/>
              </a:rPr>
              <a:t>Mientras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que</a:t>
            </a:r>
            <a:r>
              <a:rPr lang="en-US" sz="1400" dirty="0">
                <a:ea typeface="+mn-lt"/>
                <a:cs typeface="+mn-lt"/>
              </a:rPr>
              <a:t> con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nitruro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necesitamos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decenas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micras</a:t>
            </a:r>
            <a:r>
              <a:rPr lang="en-US" sz="1400" dirty="0">
                <a:ea typeface="+mn-lt"/>
                <a:cs typeface="+mn-lt"/>
              </a:rPr>
              <a:t> de radio para no </a:t>
            </a:r>
            <a:r>
              <a:rPr lang="en-US" sz="1400" dirty="0" err="1">
                <a:ea typeface="+mn-lt"/>
                <a:cs typeface="+mn-lt"/>
              </a:rPr>
              <a:t>perder</a:t>
            </a:r>
            <a:r>
              <a:rPr lang="en-US" sz="1400" dirty="0">
                <a:ea typeface="+mn-lt"/>
                <a:cs typeface="+mn-lt"/>
              </a:rPr>
              <a:t> luz,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silicio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nos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permite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hacer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giros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cerradísimos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unos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pocos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micrómetros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cumpliendo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sobra</a:t>
            </a:r>
            <a:r>
              <a:rPr lang="en-US" sz="1400" dirty="0">
                <a:ea typeface="+mn-lt"/>
                <a:cs typeface="+mn-lt"/>
              </a:rPr>
              <a:t> con </a:t>
            </a:r>
            <a:r>
              <a:rPr lang="en-US" sz="1400" dirty="0" err="1">
                <a:ea typeface="+mn-lt"/>
                <a:cs typeface="+mn-lt"/>
              </a:rPr>
              <a:t>el</a:t>
            </a:r>
            <a:r>
              <a:rPr lang="en-US" sz="1400" dirty="0">
                <a:ea typeface="+mn-lt"/>
                <a:cs typeface="+mn-lt"/>
              </a:rPr>
              <a:t> </a:t>
            </a:r>
            <a:r>
              <a:rPr lang="en-US" sz="1400" dirty="0" err="1">
                <a:ea typeface="+mn-lt"/>
                <a:cs typeface="+mn-lt"/>
              </a:rPr>
              <a:t>límite</a:t>
            </a:r>
            <a:r>
              <a:rPr lang="en-US" sz="1400" dirty="0">
                <a:ea typeface="+mn-lt"/>
                <a:cs typeface="+mn-lt"/>
              </a:rPr>
              <a:t> de </a:t>
            </a:r>
            <a:r>
              <a:rPr lang="en-US" sz="1400" dirty="0" err="1">
                <a:ea typeface="+mn-lt"/>
                <a:cs typeface="+mn-lt"/>
              </a:rPr>
              <a:t>seguridad</a:t>
            </a:r>
            <a:r>
              <a:rPr lang="en-US" sz="1400" dirty="0">
                <a:ea typeface="+mn-lt"/>
                <a:cs typeface="+mn-lt"/>
              </a:rPr>
              <a:t> (0.1 dB/90°).</a:t>
            </a:r>
            <a:endParaRPr lang="en-US" sz="1400" dirty="0">
              <a:ea typeface="Calibri"/>
              <a:cs typeface="Calibri"/>
            </a:endParaRPr>
          </a:p>
          <a:p>
            <a:pPr algn="just"/>
            <a:r>
              <a:rPr lang="en-US" sz="1400" dirty="0" err="1">
                <a:ea typeface="Calibri"/>
                <a:cs typeface="Calibri"/>
              </a:rPr>
              <a:t>Según</a:t>
            </a:r>
            <a:r>
              <a:rPr lang="en-US" sz="1400" dirty="0">
                <a:ea typeface="Calibri"/>
                <a:cs typeface="Calibri"/>
              </a:rPr>
              <a:t> lo visto y </a:t>
            </a:r>
            <a:r>
              <a:rPr lang="en-US" sz="1400" dirty="0" err="1">
                <a:ea typeface="Calibri"/>
                <a:cs typeface="Calibri"/>
              </a:rPr>
              <a:t>comentado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en</a:t>
            </a:r>
            <a:r>
              <a:rPr lang="en-US" sz="1400" dirty="0">
                <a:ea typeface="Calibri"/>
                <a:cs typeface="Calibri"/>
              </a:rPr>
              <a:t> la </a:t>
            </a:r>
            <a:r>
              <a:rPr lang="en-US" sz="1400" dirty="0" err="1">
                <a:ea typeface="Calibri"/>
                <a:cs typeface="Calibri"/>
              </a:rPr>
              <a:t>práctica</a:t>
            </a:r>
            <a:r>
              <a:rPr lang="en-US" sz="1400" dirty="0">
                <a:ea typeface="Calibri"/>
                <a:cs typeface="Calibri"/>
              </a:rPr>
              <a:t>, </a:t>
            </a:r>
            <a:r>
              <a:rPr lang="en-US" sz="1400" dirty="0" err="1">
                <a:ea typeface="Calibri"/>
                <a:cs typeface="Calibri"/>
              </a:rPr>
              <a:t>eligiríamos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el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silicio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en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fabricaciones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muy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compactas</a:t>
            </a:r>
            <a:r>
              <a:rPr lang="en-US" sz="1400" dirty="0">
                <a:ea typeface="Calibri"/>
                <a:cs typeface="Calibri"/>
              </a:rPr>
              <a:t>, </a:t>
            </a:r>
            <a:r>
              <a:rPr lang="en-US" sz="1400" dirty="0" err="1">
                <a:ea typeface="Calibri"/>
                <a:cs typeface="Calibri"/>
              </a:rPr>
              <a:t>en</a:t>
            </a:r>
            <a:r>
              <a:rPr lang="en-US" sz="1400" dirty="0">
                <a:ea typeface="Calibri"/>
                <a:cs typeface="Calibri"/>
              </a:rPr>
              <a:t> las </a:t>
            </a:r>
            <a:r>
              <a:rPr lang="en-US" sz="1400" dirty="0" err="1">
                <a:ea typeface="Calibri"/>
                <a:cs typeface="Calibri"/>
              </a:rPr>
              <a:t>que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quisiéramos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aumentar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una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longitud</a:t>
            </a:r>
            <a:r>
              <a:rPr lang="en-US" sz="1400" dirty="0">
                <a:ea typeface="Calibri"/>
                <a:cs typeface="Calibri"/>
              </a:rPr>
              <a:t> de </a:t>
            </a:r>
            <a:r>
              <a:rPr lang="en-US" sz="1400" dirty="0" err="1">
                <a:ea typeface="Calibri"/>
                <a:cs typeface="Calibri"/>
              </a:rPr>
              <a:t>una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pista</a:t>
            </a:r>
            <a:r>
              <a:rPr lang="en-US" sz="1400" dirty="0">
                <a:ea typeface="Calibri"/>
                <a:cs typeface="Calibri"/>
              </a:rPr>
              <a:t> con curvas </a:t>
            </a:r>
            <a:r>
              <a:rPr lang="en-US" sz="1400" dirty="0" err="1">
                <a:ea typeface="Calibri"/>
                <a:cs typeface="Calibri"/>
              </a:rPr>
              <a:t>por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su</a:t>
            </a:r>
            <a:r>
              <a:rPr lang="en-US" sz="1400" dirty="0">
                <a:ea typeface="Calibri"/>
                <a:cs typeface="Calibri"/>
              </a:rPr>
              <a:t> bajo radio de </a:t>
            </a:r>
            <a:r>
              <a:rPr lang="en-US" sz="1400" dirty="0" err="1">
                <a:ea typeface="Calibri"/>
                <a:cs typeface="Calibri"/>
              </a:rPr>
              <a:t>curvatura</a:t>
            </a:r>
            <a:r>
              <a:rPr lang="en-US" sz="1400" dirty="0">
                <a:ea typeface="Calibri"/>
                <a:cs typeface="Calibri"/>
              </a:rPr>
              <a:t>. Por </a:t>
            </a:r>
            <a:r>
              <a:rPr lang="en-US" sz="1400" dirty="0" err="1">
                <a:ea typeface="Calibri"/>
                <a:cs typeface="Calibri"/>
              </a:rPr>
              <a:t>otro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lado</a:t>
            </a:r>
            <a:r>
              <a:rPr lang="en-US" sz="1400" dirty="0">
                <a:ea typeface="Calibri"/>
                <a:cs typeface="Calibri"/>
              </a:rPr>
              <a:t>, </a:t>
            </a:r>
            <a:r>
              <a:rPr lang="en-US" sz="1400" dirty="0" err="1">
                <a:ea typeface="Calibri"/>
                <a:cs typeface="Calibri"/>
              </a:rPr>
              <a:t>escogeríamos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el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nitruro</a:t>
            </a:r>
            <a:r>
              <a:rPr lang="en-US" sz="1400" dirty="0">
                <a:ea typeface="Calibri"/>
                <a:cs typeface="Calibri"/>
              </a:rPr>
              <a:t> de </a:t>
            </a:r>
            <a:r>
              <a:rPr lang="en-US" sz="1400" dirty="0" err="1">
                <a:ea typeface="Calibri"/>
                <a:cs typeface="Calibri"/>
              </a:rPr>
              <a:t>silicio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en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aplicaciones</a:t>
            </a:r>
            <a:r>
              <a:rPr lang="en-US" sz="1400" dirty="0">
                <a:ea typeface="Calibri"/>
                <a:cs typeface="Calibri"/>
              </a:rPr>
              <a:t> de gran ancho de </a:t>
            </a:r>
            <a:r>
              <a:rPr lang="en-US" sz="1400" dirty="0" err="1">
                <a:ea typeface="Calibri"/>
                <a:cs typeface="Calibri"/>
              </a:rPr>
              <a:t>banda</a:t>
            </a:r>
            <a:r>
              <a:rPr lang="en-US" sz="1400" dirty="0">
                <a:ea typeface="Calibri"/>
                <a:cs typeface="Calibri"/>
              </a:rPr>
              <a:t> o </a:t>
            </a:r>
            <a:r>
              <a:rPr lang="en-US" sz="1400" dirty="0" err="1">
                <a:ea typeface="Calibri"/>
                <a:cs typeface="Calibri"/>
              </a:rPr>
              <a:t>bajas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pérdidas</a:t>
            </a:r>
            <a:r>
              <a:rPr lang="en-US" sz="1400" dirty="0">
                <a:ea typeface="Calibri"/>
                <a:cs typeface="Calibri"/>
              </a:rPr>
              <a:t> </a:t>
            </a:r>
            <a:r>
              <a:rPr lang="en-US" sz="1400" dirty="0" err="1">
                <a:ea typeface="Calibri"/>
                <a:cs typeface="Calibri"/>
              </a:rPr>
              <a:t>por</a:t>
            </a:r>
            <a:r>
              <a:rPr lang="en-US" sz="1400">
                <a:ea typeface="Calibri"/>
                <a:cs typeface="Calibri"/>
              </a:rPr>
              <a:t> su comportamiento tan estable.</a:t>
            </a:r>
            <a:endParaRPr lang="en-US" sz="1400"/>
          </a:p>
          <a:p>
            <a:pPr algn="just"/>
            <a:endParaRPr lang="en-US" sz="12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89611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18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1032</TotalTime>
  <Words>531</Words>
  <Application>Microsoft Office PowerPoint</Application>
  <PresentationFormat>Panorámica</PresentationFormat>
  <Paragraphs>99</Paragraphs>
  <Slides>18</Slides>
  <Notes>14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19" baseType="lpstr">
      <vt:lpstr>Office Theme</vt:lpstr>
      <vt:lpstr>Presentación de PowerPoint</vt:lpstr>
      <vt:lpstr>Instructions General</vt:lpstr>
      <vt:lpstr>Learning outcome #1 – Effective index of a waveguide </vt:lpstr>
      <vt:lpstr>1.1. Materials  </vt:lpstr>
      <vt:lpstr>1.2. Cross - Section Definition   </vt:lpstr>
      <vt:lpstr>1.3. Simulations– Numerical results    </vt:lpstr>
      <vt:lpstr>1.3.Simulations–  Plots  </vt:lpstr>
      <vt:lpstr>1.3.Simulations– Plots    </vt:lpstr>
      <vt:lpstr>Learning outcome #2 – Wavelength behavior Wavelength 1.5-1.6 µm (step 0.01 µm) – width 1.2 µm</vt:lpstr>
      <vt:lpstr>Learning outcome #3 – Width dependence Width 0.6 - 1.6 µm (step 0.1 µm) – Wavelength 1.55 µm </vt:lpstr>
      <vt:lpstr>Learning outcome #4 – Waveguide compact model - Find the compact models of the following waveguides:  Deep waveguide, h=300nm, w=1.2um   - Shallow waveguide, core h=300nm, slab h=150 nm, w = 1.2um  </vt:lpstr>
      <vt:lpstr>Learning outcome #5 – Bend waveguide radius vs. loss – deep Find  neff_TE0 for wvl 1.55 µm, width 1.2 µm for R=25,50,75,100, 125,150 µm </vt:lpstr>
      <vt:lpstr>Extra</vt:lpstr>
      <vt:lpstr>EXTRA:1. Repeat the LO.2. wavelength behavior simulations, considering the updated materials and dimensions.  </vt:lpstr>
      <vt:lpstr>EXTRA2:Repeat the LO.3. width dependence analysis, now sweeping in a 300nm - 1um range.  </vt:lpstr>
      <vt:lpstr>EXTRA3:Find the safe radius for this technology. Consider sweeping the radius in a 5um to 30um range.  </vt:lpstr>
      <vt:lpstr>EXTRA4:Compare the SiNx and SOI technologies 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Christian Camilo Cano Vasquez</cp:lastModifiedBy>
  <cp:revision>737</cp:revision>
  <dcterms:created xsi:type="dcterms:W3CDTF">2025-01-27T02:46:57Z</dcterms:created>
  <dcterms:modified xsi:type="dcterms:W3CDTF">2026-03-14T19:34:47Z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